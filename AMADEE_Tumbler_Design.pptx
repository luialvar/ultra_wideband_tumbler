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69" r:id="rId3"/>
    <p:sldId id="270" r:id="rId4"/>
    <p:sldId id="264" r:id="rId5"/>
    <p:sldId id="271" r:id="rId6"/>
    <p:sldId id="267" r:id="rId7"/>
    <p:sldId id="257" r:id="rId8"/>
    <p:sldId id="260" r:id="rId9"/>
    <p:sldId id="259" r:id="rId10"/>
    <p:sldId id="263"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74"/>
    <p:restoredTop sz="80838"/>
  </p:normalViewPr>
  <p:slideViewPr>
    <p:cSldViewPr snapToGrid="0" snapToObjects="1">
      <p:cViewPr varScale="1">
        <p:scale>
          <a:sx n="126" d="100"/>
          <a:sy n="126" d="100"/>
        </p:scale>
        <p:origin x="1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163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final meeting with a clear frame: team, work package, and format. Keep this under 15–20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noRot="1" noChangeAspect="1"/>
          </p:cNvSpPr>
          <p:nvPr>
            <p:ph type="sldImg"/>
          </p:nvPr>
        </p:nvSpPr>
        <p:spPr>
          <a:xfrm>
            <a:off x="0" y="0"/>
            <a:ext cx="0" cy="0"/>
          </a:xfrm>
          <a:prstGeom prst="rect">
            <a:avLst/>
          </a:prstGeom>
          <a:ln w="0">
            <a:noFill/>
          </a:ln>
        </p:spPr>
      </p:sp>
      <p:sp>
        <p:nvSpPr>
          <p:cNvPr id="1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tabLst>
                <a:tab pos="0" algn="l"/>
              </a:tabLst>
            </a:pPr>
            <a:r>
              <a:rPr lang="en-US" sz="2000" b="0" u="none" strike="noStrike">
                <a:solidFill>
                  <a:srgbClr val="000000"/>
                </a:solidFill>
                <a:effectLst/>
                <a:uFillTx/>
                <a:latin typeface="Arial"/>
              </a:rPr>
              <a:t>Use this slide during the preparation call to decide the actual demo format.</a:t>
            </a:r>
          </a:p>
          <a:p>
            <a:pPr indent="0" algn="l">
              <a:lnSpc>
                <a:spcPct val="100000"/>
              </a:lnSpc>
              <a:buNone/>
              <a:tabLst>
                <a:tab pos="0" algn="l"/>
              </a:tabLst>
            </a:pPr>
            <a:r>
              <a:rPr lang="en-US" sz="2000" b="0" u="none" strike="noStrike">
                <a:solidFill>
                  <a:srgbClr val="000000"/>
                </a:solidFill>
                <a:effectLst/>
                <a:uFillTx/>
                <a:latin typeface="Arial"/>
              </a:rPr>
              <a:t>For the final deck, either keep it as a short “Demonstration” slide or replace it with the actual demo material.</a:t>
            </a:r>
          </a:p>
          <a:p>
            <a:pPr indent="0" algn="l">
              <a:lnSpc>
                <a:spcPct val="100000"/>
              </a:lnSpc>
              <a:buNone/>
              <a:tabLst>
                <a:tab pos="0" algn="l"/>
              </a:tabLst>
            </a:pPr>
            <a:r>
              <a:rPr lang="en-US" sz="2000" b="0" u="none" strike="noStrike">
                <a:solidFill>
                  <a:srgbClr val="000000"/>
                </a:solidFill>
                <a:effectLst/>
                <a:uFillTx/>
                <a:latin typeface="Arial"/>
              </a:rPr>
              <a:t>Assign responsibility: who brings the printed prototype, who opens CAD, who explains the test result.</a:t>
            </a:r>
          </a:p>
          <a:p>
            <a:pPr indent="0" algn="l">
              <a:lnSpc>
                <a:spcPct val="100000"/>
              </a:lnSpc>
              <a:buNone/>
              <a:tabLst>
                <a:tab pos="0" algn="l"/>
              </a:tabLst>
            </a:pPr>
            <a:r>
              <a:rPr lang="en-US" sz="2000" b="0" u="none" strike="noStrike">
                <a:solidFill>
                  <a:srgbClr val="000000"/>
                </a:solidFill>
                <a:effectLst/>
                <a:uFillTx/>
                <a:latin typeface="Arial"/>
              </a:rPr>
              <a:t>Keep the demo short enough to leave time for Q&amp;A.</a:t>
            </a:r>
          </a:p>
        </p:txBody>
      </p:sp>
      <p:sp>
        <p:nvSpPr>
          <p:cNvPr id="105"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70FF2D1-344B-4F76-8B45-B5BA4E8622C9}" type="slidenum">
              <a:rPr lang="en-US" sz="1800" b="0" u="none" strike="noStrike">
                <a:solidFill>
                  <a:schemeClr val="dk1"/>
                </a:solidFill>
                <a:effectLst/>
                <a:uFillTx/>
                <a:latin typeface="+mn-lt"/>
                <a:ea typeface="+mn-ea"/>
              </a:rPr>
              <a:t>4</a:t>
            </a:fld>
            <a:endParaRPr lang="en-US"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C6562-DD82-486F-6D04-F56AFCF85E4D}"/>
            </a:ext>
          </a:extLst>
        </p:cNvPr>
        <p:cNvGrpSpPr/>
        <p:nvPr/>
      </p:nvGrpSpPr>
      <p:grpSpPr>
        <a:xfrm>
          <a:off x="0" y="0"/>
          <a:ext cx="0" cy="0"/>
          <a:chOff x="0" y="0"/>
          <a:chExt cx="0" cy="0"/>
        </a:xfrm>
      </p:grpSpPr>
      <p:sp>
        <p:nvSpPr>
          <p:cNvPr id="103" name="PlaceHolder 1">
            <a:extLst>
              <a:ext uri="{FF2B5EF4-FFF2-40B4-BE49-F238E27FC236}">
                <a16:creationId xmlns:a16="http://schemas.microsoft.com/office/drawing/2014/main" id="{40C9D5DF-9EF4-DA53-7D51-AD9262AC58EE}"/>
              </a:ext>
            </a:extLst>
          </p:cNvPr>
          <p:cNvSpPr>
            <a:spLocks noGrp="1" noRot="1" noChangeAspect="1"/>
          </p:cNvSpPr>
          <p:nvPr>
            <p:ph type="sldImg"/>
          </p:nvPr>
        </p:nvSpPr>
        <p:spPr>
          <a:xfrm>
            <a:off x="0" y="0"/>
            <a:ext cx="0" cy="0"/>
          </a:xfrm>
          <a:prstGeom prst="rect">
            <a:avLst/>
          </a:prstGeom>
          <a:ln w="0">
            <a:noFill/>
          </a:ln>
        </p:spPr>
      </p:sp>
      <p:sp>
        <p:nvSpPr>
          <p:cNvPr id="104" name="PlaceHolder 2">
            <a:extLst>
              <a:ext uri="{FF2B5EF4-FFF2-40B4-BE49-F238E27FC236}">
                <a16:creationId xmlns:a16="http://schemas.microsoft.com/office/drawing/2014/main" id="{EA85A148-A470-3250-3019-EEEADFF518FF}"/>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tabLst>
                <a:tab pos="0" algn="l"/>
              </a:tabLst>
            </a:pPr>
            <a:r>
              <a:rPr lang="en-US" sz="2000" b="0" u="none" strike="noStrike">
                <a:solidFill>
                  <a:srgbClr val="000000"/>
                </a:solidFill>
                <a:effectLst/>
                <a:uFillTx/>
                <a:latin typeface="Arial"/>
              </a:rPr>
              <a:t>Use this slide during the preparation call to decide the actual demo format.</a:t>
            </a:r>
          </a:p>
          <a:p>
            <a:pPr indent="0" algn="l">
              <a:lnSpc>
                <a:spcPct val="100000"/>
              </a:lnSpc>
              <a:buNone/>
              <a:tabLst>
                <a:tab pos="0" algn="l"/>
              </a:tabLst>
            </a:pPr>
            <a:r>
              <a:rPr lang="en-US" sz="2000" b="0" u="none" strike="noStrike">
                <a:solidFill>
                  <a:srgbClr val="000000"/>
                </a:solidFill>
                <a:effectLst/>
                <a:uFillTx/>
                <a:latin typeface="Arial"/>
              </a:rPr>
              <a:t>For the final deck, either keep it as a short “Demonstration” slide or replace it with the actual demo material.</a:t>
            </a:r>
          </a:p>
          <a:p>
            <a:pPr indent="0" algn="l">
              <a:lnSpc>
                <a:spcPct val="100000"/>
              </a:lnSpc>
              <a:buNone/>
              <a:tabLst>
                <a:tab pos="0" algn="l"/>
              </a:tabLst>
            </a:pPr>
            <a:r>
              <a:rPr lang="en-US" sz="2000" b="0" u="none" strike="noStrike">
                <a:solidFill>
                  <a:srgbClr val="000000"/>
                </a:solidFill>
                <a:effectLst/>
                <a:uFillTx/>
                <a:latin typeface="Arial"/>
              </a:rPr>
              <a:t>Assign responsibility: who brings the printed prototype, who opens CAD, who explains the test result.</a:t>
            </a:r>
          </a:p>
          <a:p>
            <a:pPr indent="0" algn="l">
              <a:lnSpc>
                <a:spcPct val="100000"/>
              </a:lnSpc>
              <a:buNone/>
              <a:tabLst>
                <a:tab pos="0" algn="l"/>
              </a:tabLst>
            </a:pPr>
            <a:r>
              <a:rPr lang="en-US" sz="2000" b="0" u="none" strike="noStrike">
                <a:solidFill>
                  <a:srgbClr val="000000"/>
                </a:solidFill>
                <a:effectLst/>
                <a:uFillTx/>
                <a:latin typeface="Arial"/>
              </a:rPr>
              <a:t>Keep the demo short enough to leave time for Q&amp;A.</a:t>
            </a:r>
          </a:p>
        </p:txBody>
      </p:sp>
      <p:sp>
        <p:nvSpPr>
          <p:cNvPr id="105" name="PlaceHolder 3">
            <a:extLst>
              <a:ext uri="{FF2B5EF4-FFF2-40B4-BE49-F238E27FC236}">
                <a16:creationId xmlns:a16="http://schemas.microsoft.com/office/drawing/2014/main" id="{A0EEC3B4-CE17-6A2C-A812-2A102EADE3CD}"/>
              </a:ext>
            </a:extLst>
          </p:cNvPr>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70FF2D1-344B-4F76-8B45-B5BA4E8622C9}" type="slidenum">
              <a:rPr lang="en-US" sz="1800" b="0" u="none" strike="noStrike">
                <a:solidFill>
                  <a:schemeClr val="dk1"/>
                </a:solidFill>
                <a:effectLst/>
                <a:uFillTx/>
                <a:latin typeface="+mn-lt"/>
                <a:ea typeface="+mn-ea"/>
              </a:rPr>
              <a:t>5</a:t>
            </a:fld>
            <a:endParaRPr lang="en-US"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890640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noRot="1" noChangeAspect="1"/>
          </p:cNvSpPr>
          <p:nvPr>
            <p:ph type="sldImg"/>
          </p:nvPr>
        </p:nvSpPr>
        <p:spPr>
          <a:xfrm>
            <a:off x="0" y="0"/>
            <a:ext cx="0" cy="0"/>
          </a:xfrm>
          <a:prstGeom prst="rect">
            <a:avLst/>
          </a:prstGeom>
          <a:ln w="0">
            <a:noFill/>
          </a:ln>
        </p:spPr>
      </p:sp>
      <p:sp>
        <p:nvSpPr>
          <p:cNvPr id="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buNone/>
            </a:pPr>
            <a:r>
              <a:rPr lang="en-US" sz="2000" b="0" u="none" strike="noStrike">
                <a:solidFill>
                  <a:srgbClr val="000000"/>
                </a:solidFill>
                <a:effectLst/>
                <a:uFillTx/>
                <a:latin typeface="DejaVu Sans"/>
              </a:rPr>
              <a:t>Use this slide to show that the design was not arbitrary.</a:t>
            </a:r>
            <a:endParaRPr lang="de-DE" sz="2000" b="0" u="none" strike="noStrike">
              <a:solidFill>
                <a:srgbClr val="000000"/>
              </a:solidFill>
              <a:effectLst/>
              <a:uFillTx/>
              <a:latin typeface="DejaVu Sans"/>
            </a:endParaRPr>
          </a:p>
          <a:p>
            <a:pPr indent="0" algn="l">
              <a:buNone/>
            </a:pPr>
            <a:r>
              <a:rPr lang="en-US" sz="2000" b="0" u="none" strike="noStrike">
                <a:solidFill>
                  <a:srgbClr val="000000"/>
                </a:solidFill>
                <a:effectLst/>
                <a:uFillTx/>
                <a:latin typeface="DejaVu Sans"/>
              </a:rPr>
              <a:t>Mention that early discussions included release constraints, solar panel placement, internal layout and UWB signal considerations.</a:t>
            </a:r>
            <a:endParaRPr lang="de-DE" sz="2000" b="0" u="none" strike="noStrike">
              <a:solidFill>
                <a:srgbClr val="000000"/>
              </a:solidFill>
              <a:effectLst/>
              <a:uFillTx/>
              <a:latin typeface="DejaVu Sans"/>
            </a:endParaRPr>
          </a:p>
          <a:p>
            <a:pPr indent="0" algn="l">
              <a:lnSpc>
                <a:spcPct val="100000"/>
              </a:lnSpc>
              <a:buNone/>
            </a:pPr>
            <a:r>
              <a:rPr lang="en-US" sz="2000" b="0" u="none" strike="noStrike">
                <a:solidFill>
                  <a:srgbClr val="000000"/>
                </a:solidFill>
                <a:effectLst/>
                <a:uFillTx/>
                <a:latin typeface="DejaVu Sans"/>
              </a:rPr>
              <a:t>Do not overpromise exact requirements unless the team has numbers. Keep it qualitative unless someone fills in confirmed values.</a:t>
            </a:r>
            <a:endParaRPr lang="de-DE" sz="2000" b="0" u="none" strike="noStrike">
              <a:solidFill>
                <a:srgbClr val="000000"/>
              </a:solidFill>
              <a:effectLst/>
              <a:uFillTx/>
              <a:latin typeface="DejaVu Sans"/>
            </a:endParaRPr>
          </a:p>
        </p:txBody>
      </p:sp>
      <p:sp>
        <p:nvSpPr>
          <p:cNvPr id="54"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9BB6C3D-03E4-43DB-AF21-DF7807214607}" type="slidenum">
              <a:rPr lang="en-US" sz="1800" b="0" u="none" strike="noStrike">
                <a:solidFill>
                  <a:schemeClr val="dk1"/>
                </a:solidFill>
                <a:effectLst/>
                <a:uFillTx/>
                <a:latin typeface="+mn-lt"/>
                <a:ea typeface="+mn-ea"/>
              </a:rPr>
              <a:t>6</a:t>
            </a:fld>
            <a:endParaRPr lang="de-DE" sz="1800" b="0" u="none" strike="noStrike">
              <a:solidFill>
                <a:srgbClr val="000000"/>
              </a:solidFill>
              <a:effectLst/>
              <a:uFillTx/>
              <a:latin typeface="DejaVu Serif"/>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noRot="1" noChangeAspect="1"/>
          </p:cNvSpPr>
          <p:nvPr>
            <p:ph type="sldImg"/>
          </p:nvPr>
        </p:nvSpPr>
        <p:spPr>
          <a:xfrm>
            <a:off x="0" y="0"/>
            <a:ext cx="0" cy="0"/>
          </a:xfrm>
          <a:prstGeom prst="rect">
            <a:avLst/>
          </a:prstGeom>
          <a:ln w="0">
            <a:noFill/>
          </a:ln>
        </p:spPr>
      </p:sp>
      <p:sp>
        <p:nvSpPr>
          <p:cNvPr id="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buNone/>
            </a:pPr>
            <a:r>
              <a:rPr lang="en-US" sz="2000" b="0" u="none" strike="noStrike">
                <a:solidFill>
                  <a:srgbClr val="000000"/>
                </a:solidFill>
                <a:effectLst/>
                <a:uFillTx/>
                <a:latin typeface="DejaVu Sans"/>
              </a:rPr>
              <a:t>Use this slide to show that the design was not arbitrary.</a:t>
            </a:r>
            <a:endParaRPr lang="de-DE" sz="2000" b="0" u="none" strike="noStrike">
              <a:solidFill>
                <a:srgbClr val="000000"/>
              </a:solidFill>
              <a:effectLst/>
              <a:uFillTx/>
              <a:latin typeface="DejaVu Sans"/>
            </a:endParaRPr>
          </a:p>
          <a:p>
            <a:pPr indent="0" algn="l">
              <a:buNone/>
            </a:pPr>
            <a:r>
              <a:rPr lang="en-US" sz="2000" b="0" u="none" strike="noStrike">
                <a:solidFill>
                  <a:srgbClr val="000000"/>
                </a:solidFill>
                <a:effectLst/>
                <a:uFillTx/>
                <a:latin typeface="DejaVu Sans"/>
              </a:rPr>
              <a:t>Mention that early discussions included release constraints, solar panel placement, internal layout and UWB signal considerations.</a:t>
            </a:r>
            <a:endParaRPr lang="de-DE" sz="2000" b="0" u="none" strike="noStrike">
              <a:solidFill>
                <a:srgbClr val="000000"/>
              </a:solidFill>
              <a:effectLst/>
              <a:uFillTx/>
              <a:latin typeface="DejaVu Sans"/>
            </a:endParaRPr>
          </a:p>
          <a:p>
            <a:pPr indent="0" algn="l">
              <a:lnSpc>
                <a:spcPct val="100000"/>
              </a:lnSpc>
              <a:buNone/>
            </a:pPr>
            <a:r>
              <a:rPr lang="en-US" sz="2000" b="0" u="none" strike="noStrike">
                <a:solidFill>
                  <a:srgbClr val="000000"/>
                </a:solidFill>
                <a:effectLst/>
                <a:uFillTx/>
                <a:latin typeface="DejaVu Sans"/>
              </a:rPr>
              <a:t>Do not overpromise exact requirements unless the team has numbers. Keep it qualitative unless someone fills in confirmed values.</a:t>
            </a:r>
            <a:endParaRPr lang="de-DE" sz="2000" b="0" u="none" strike="noStrike">
              <a:solidFill>
                <a:srgbClr val="000000"/>
              </a:solidFill>
              <a:effectLst/>
              <a:uFillTx/>
              <a:latin typeface="DejaVu Sans"/>
            </a:endParaRPr>
          </a:p>
        </p:txBody>
      </p:sp>
      <p:sp>
        <p:nvSpPr>
          <p:cNvPr id="57"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3ABE0D9-C9CE-4733-9952-96BB1D699B8E}" type="slidenum">
              <a:rPr lang="en-US" sz="1800" b="0" u="none" strike="noStrike">
                <a:solidFill>
                  <a:schemeClr val="dk1"/>
                </a:solidFill>
                <a:effectLst/>
                <a:uFillTx/>
                <a:latin typeface="+mn-lt"/>
                <a:ea typeface="+mn-ea"/>
              </a:rPr>
              <a:t>7</a:t>
            </a:fld>
            <a:endParaRPr lang="de-DE" sz="1800" b="0" u="none" strike="noStrike">
              <a:solidFill>
                <a:srgbClr val="000000"/>
              </a:solidFill>
              <a:effectLst/>
              <a:uFillTx/>
              <a:latin typeface="DejaVu Serif"/>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Mention that the release mechanism influenced the outer shape and handling of the Tumbler.
In the Release Unit chat, the initial assumption was that a compressible/foldable Tumbler might need to be held compressed and released by a mechanism.
I clarified that our group had also discussed rigid alternatives where compression would not be necessary.</a:t>
            </a:r>
          </a:p>
          <a:p>
            <a:pPr marL="171450" indent="-171450">
              <a:buFontTx/>
              <a:buChar char="-"/>
            </a:pPr>
            <a:r>
              <a:rPr lang="en-US"/>
              <a:t>Important message: the Tumbler was treated as part of a deployable system, not only as an isolated housing.</a:t>
            </a:r>
          </a:p>
          <a:p>
            <a:pPr marL="171450" indent="-171450">
              <a:buFontTx/>
              <a:buChar char="-"/>
            </a:pPr>
            <a:r>
              <a:rPr lang="en-US"/>
              <a:t>“Because the Tumbler is not an isolated object, the release mechanism was one of the first external interfaces we had to align with.”</a:t>
            </a:r>
          </a:p>
          <a:p>
            <a:pPr marL="171450" indent="-171450">
              <a:buFontTx/>
              <a:buChar char="-"/>
            </a:pPr>
            <a:r>
              <a:rPr lang="en-US"/>
              <a:t>Early interface alignment changed the design discussion from “one isolated housing” to a deployable sytsme component.</a:t>
            </a:r>
          </a:p>
          <a:p>
            <a:pPr marL="171450" indent="-171450">
              <a:buFontTx/>
              <a:buChar char="-"/>
            </a:pPr>
            <a:r>
              <a:rPr lang="en-US"/>
              <a:t>The Tumber geometry was iterated together with external deployment contraints – not chosen only for appearance.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The designs developed in parallel and were compared as different solution directions, not as a competition between people.
Flex/folded: compact storage and compression idea, but more mechanically complex.
Oval/prism: rigid alternatives that avoided compression and were easier to reason about for release.
Spherical design: later became the basis for the current Breadcrumb direction.
The main selection dimensions were release compatibility, storage, solar-panel placement, internal volume, robustness and feasibility.</a:t>
            </a:r>
          </a:p>
          <a:p>
            <a:pPr marL="171450" indent="-171450">
              <a:buFontTx/>
              <a:buChar char="-"/>
            </a:pPr>
            <a:r>
              <a:rPr lang="en-US"/>
              <a:t>“We did not want to decide immediately on one perfect shape. Instead, we compared multiple concepts against the main constraints.”</a:t>
            </a:r>
          </a:p>
          <a:p>
            <a:pPr marL="171450" indent="-171450">
              <a:buFontTx/>
              <a:buChar char="-"/>
            </a:pPr>
            <a:r>
              <a:rPr lang="en-US"/>
              <a:t>Mention that the early rigid concepts helped clarify that a non-compressed, orientation-agnostic Tumbler would be easier for release.</a:t>
            </a:r>
          </a:p>
          <a:p>
            <a:pPr marL="171450" indent="-171450">
              <a:buFontTx/>
              <a:buChar char="-"/>
            </a:pPr>
            <a:r>
              <a:rPr lang="en-US"/>
              <a:t>The early phase intentionally kept several geometries open so the team could evaluate trade.offs before converging on the current Breadcrumb design.</a:t>
            </a:r>
          </a:p>
          <a:p>
            <a:pPr marL="171450" indent="-171450">
              <a:buFontTx/>
              <a:buChar char="-"/>
            </a:pPr>
            <a:r>
              <a:rPr lang="en-US"/>
              <a:t>The final direction was not a single first idea”; it results from the comparing deployment, panel area, internal layout, robustness and testability.</a:t>
            </a:r>
          </a:p>
          <a:p>
            <a:pPr marL="171450" indent="-171450">
              <a:buFontTx/>
              <a:buChar char="-"/>
            </a:pPr>
            <a:endParaRPr lang="en-US"/>
          </a:p>
          <a:p>
            <a:pPr marL="171450" indent="-171450">
              <a:buFontTx/>
              <a:buChar char="-"/>
            </a:pPr>
            <a:r>
              <a:rPr lang="en-US"/>
              <a:t>Nicht Sphere to breadcrumb, sondern Trends bei dem Prototyping die dann in Richtung Breadcrumb gingen.</a:t>
            </a:r>
          </a:p>
          <a:p>
            <a:pPr marL="171450" indent="-171450">
              <a:buFontTx/>
              <a:buChar char="-"/>
            </a:pPr>
            <a:endParaRPr lang="en-US"/>
          </a:p>
          <a:p>
            <a:pPr marL="171450" lvl="0" indent="-171450">
              <a:buFontTx/>
              <a:buChar char="-"/>
            </a:pPr>
            <a:r>
              <a:rPr lang="en-US"/>
              <a:t>Üvbergang zu dem Finalen Design: </a:t>
            </a:r>
          </a:p>
          <a:p>
            <a:pPr marL="628650" lvl="1" indent="-171450">
              <a:buFontTx/>
              <a:buChar char="-"/>
            </a:pPr>
            <a:r>
              <a:rPr lang="en-US"/>
              <a:t>Several issues were investigated during the semester; some became part of the final design, others were resolved through later geometry updates.</a:t>
            </a:r>
          </a:p>
          <a:p>
            <a:pPr marL="628650" lvl="1" indent="-171450">
              <a:buFontTx/>
              <a:buChar char="-"/>
            </a:pPr>
            <a:r>
              <a:rPr lang="en-US"/>
              <a:t>The design evolved through prototype-driven decisions. The geometry issue noticed during print preparation was trace to a wrong prat/revision selection and is fixed ion the current revision.</a:t>
            </a:r>
          </a:p>
          <a:p>
            <a:pPr marL="628650" lvl="1" indent="-171450">
              <a:buFontTx/>
              <a:buChar char="-"/>
            </a:pPr>
            <a:r>
              <a:rPr lang="en-US"/>
              <a:t>This slide should explain the real evolution: we did not start by picking one final design.
First, the group continued to work on all four directions in parallel.
Then the team focused on an improved spherical design because it combined strengths from the other approaches.
The sphere was flattened to improve storage in the Release Unit and make the geometry more space-efficient. This led to the Breadcrumb concept.</a:t>
            </a:r>
            <a:br>
              <a:rPr lang="en-US"/>
            </a:b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noRot="1" noChangeAspect="1"/>
          </p:cNvSpPr>
          <p:nvPr>
            <p:ph type="sldImg"/>
          </p:nvPr>
        </p:nvSpPr>
        <p:spPr>
          <a:xfrm>
            <a:off x="0" y="0"/>
            <a:ext cx="0" cy="0"/>
          </a:xfrm>
          <a:prstGeom prst="rect">
            <a:avLst/>
          </a:prstGeom>
          <a:ln w="0">
            <a:noFill/>
          </a:ln>
        </p:spPr>
      </p:sp>
      <p:sp>
        <p:nvSpPr>
          <p:cNvPr id="2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tabLst>
                <a:tab pos="0" algn="l"/>
              </a:tabLst>
            </a:pPr>
            <a:r>
              <a:rPr lang="en-US" sz="2000" b="0" u="none" strike="noStrike">
                <a:solidFill>
                  <a:srgbClr val="000000"/>
                </a:solidFill>
                <a:effectLst/>
                <a:uFillTx/>
                <a:latin typeface="Arial"/>
              </a:rPr>
              <a:t>Likely owner: CAD/mechanical design owners.</a:t>
            </a:r>
          </a:p>
          <a:p>
            <a:pPr indent="0" algn="l">
              <a:lnSpc>
                <a:spcPct val="100000"/>
              </a:lnSpc>
              <a:buNone/>
              <a:tabLst>
                <a:tab pos="0" algn="l"/>
              </a:tabLst>
            </a:pPr>
            <a:r>
              <a:rPr lang="en-US" sz="2000" b="0" u="none" strike="noStrike">
                <a:solidFill>
                  <a:srgbClr val="000000"/>
                </a:solidFill>
                <a:effectLst/>
                <a:uFillTx/>
                <a:latin typeface="Arial"/>
              </a:rPr>
              <a:t>Visible slide is intentionally clean: add final CAD images only.</a:t>
            </a:r>
          </a:p>
          <a:p>
            <a:pPr indent="0" algn="l">
              <a:lnSpc>
                <a:spcPct val="100000"/>
              </a:lnSpc>
              <a:buNone/>
              <a:tabLst>
                <a:tab pos="0" algn="l"/>
              </a:tabLst>
            </a:pPr>
            <a:r>
              <a:rPr lang="en-US" sz="2000" b="0" u="none" strike="noStrike">
                <a:solidFill>
                  <a:srgbClr val="000000"/>
                </a:solidFill>
                <a:effectLst/>
                <a:uFillTx/>
                <a:latin typeface="Arial"/>
              </a:rPr>
              <a:t>Suggested content: what are the final parts, how are they assembled, how do solar panels sit in the housing, what changes were made after previous iterations.</a:t>
            </a:r>
          </a:p>
          <a:p>
            <a:pPr indent="0" algn="l">
              <a:lnSpc>
                <a:spcPct val="100000"/>
              </a:lnSpc>
              <a:buNone/>
              <a:tabLst>
                <a:tab pos="0" algn="l"/>
              </a:tabLst>
            </a:pPr>
            <a:r>
              <a:rPr lang="en-US" sz="2000" b="0" u="none" strike="noStrike">
                <a:solidFill>
                  <a:srgbClr val="000000"/>
                </a:solidFill>
                <a:effectLst/>
                <a:uFillTx/>
                <a:latin typeface="Arial"/>
              </a:rPr>
              <a:t>If seals are no longer needed, explain calmly: “The updated geometry reduces/removes the sealing need that we had previously considered.”</a:t>
            </a:r>
          </a:p>
        </p:txBody>
      </p:sp>
      <p:sp>
        <p:nvSpPr>
          <p:cNvPr id="267"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46D280E2-F80E-454C-8609-DEC9A44B1C28}" type="slidenum">
              <a:rPr lang="en-US" sz="1800" b="0" u="none" strike="noStrike">
                <a:solidFill>
                  <a:schemeClr val="dk1"/>
                </a:solidFill>
                <a:effectLst/>
                <a:uFillTx/>
                <a:latin typeface="+mn-lt"/>
                <a:ea typeface="+mn-ea"/>
              </a:rPr>
              <a:t>10</a:t>
            </a:fld>
            <a:endParaRPr lang="en-US"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Tumbler design is finalized and can be mass-printed depending on the desired quantity.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new PCBs have been ordered.
Before the next semester, the team should finish printing the required number of Tumbler parts, order any components that are not yet available in the required quantity, and store everything properly: Tumbler parts, batteries, solar panels and PCBs.
Before the hardware is shipped for the mission or later integration phase, the Tumblers can either be assembled by us, or if desired, an assembly guide could be provided so that assembly can happen later.
Avoid overclaiming: say the design work package is largely complete; the remaining tasks are procurement, production/storage and later assembly/integration.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design work package is largely complete; the remaining work is focused on printing, procurement, storage and later assembly/integration.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The main design phase is finished; the next phase is turning the finalized parts into stroed, ready-to-assemble hardware for later AMADEE integration stage.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Mention the updated status: new PCBs are ordered and the Tumblers are finalized, so they can be printed in quantity.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Next concrete steps before the semester starts: final print, final orders, store components (Tumbler parts, batteries, solar panels, PCBs).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Later assembly is expected around November/December when the parts are actually needed.</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297680" cy="6858000"/>
          </a:xfrm>
          <a:prstGeom prst="rect">
            <a:avLst/>
          </a:prstGeom>
          <a:solidFill>
            <a:srgbClr val="11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297680" y="0"/>
            <a:ext cx="73152" cy="6858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85800"/>
            <a:ext cx="3337560" cy="548640"/>
          </a:xfrm>
          <a:prstGeom prst="rect">
            <a:avLst/>
          </a:prstGeom>
          <a:noFill/>
        </p:spPr>
        <p:txBody>
          <a:bodyPr wrap="square" lIns="45720" tIns="27432" rIns="45720" bIns="27432">
            <a:spAutoFit/>
          </a:bodyPr>
          <a:lstStyle/>
          <a:p>
            <a:pPr algn="l"/>
            <a:r>
              <a:rPr sz="2200" b="1">
                <a:solidFill>
                  <a:srgbClr val="FFFFFF"/>
                </a:solidFill>
              </a:rPr>
              <a:t>AMADEE-27</a:t>
            </a:r>
          </a:p>
        </p:txBody>
      </p:sp>
      <p:sp>
        <p:nvSpPr>
          <p:cNvPr id="6" name="TextBox 5"/>
          <p:cNvSpPr txBox="1"/>
          <p:nvPr/>
        </p:nvSpPr>
        <p:spPr>
          <a:xfrm>
            <a:off x="594360" y="1234440"/>
            <a:ext cx="3429000" cy="1280160"/>
          </a:xfrm>
          <a:prstGeom prst="rect">
            <a:avLst/>
          </a:prstGeom>
          <a:noFill/>
        </p:spPr>
        <p:txBody>
          <a:bodyPr wrap="square" lIns="45720" tIns="27432" rIns="45720" bIns="27432">
            <a:spAutoFit/>
          </a:bodyPr>
          <a:lstStyle/>
          <a:p>
            <a:pPr algn="l"/>
            <a:r>
              <a:rPr sz="3800" b="1">
                <a:solidFill>
                  <a:srgbClr val="FFFFFF"/>
                </a:solidFill>
              </a:rPr>
              <a:t>Tumbler
Design</a:t>
            </a:r>
          </a:p>
        </p:txBody>
      </p:sp>
      <p:sp>
        <p:nvSpPr>
          <p:cNvPr id="7" name="TextBox 6"/>
          <p:cNvSpPr txBox="1"/>
          <p:nvPr/>
        </p:nvSpPr>
        <p:spPr>
          <a:xfrm>
            <a:off x="640080" y="2880360"/>
            <a:ext cx="3246120" cy="594360"/>
          </a:xfrm>
          <a:prstGeom prst="rect">
            <a:avLst/>
          </a:prstGeom>
          <a:noFill/>
        </p:spPr>
        <p:txBody>
          <a:bodyPr wrap="square" lIns="45720" tIns="27432" rIns="45720" bIns="27432">
            <a:spAutoFit/>
          </a:bodyPr>
          <a:lstStyle/>
          <a:p>
            <a:pPr algn="l"/>
            <a:r>
              <a:rPr sz="1800" b="0">
                <a:solidFill>
                  <a:srgbClr val="DCE6F5"/>
                </a:solidFill>
              </a:rPr>
              <a:t>Final semester meeting</a:t>
            </a:r>
          </a:p>
        </p:txBody>
      </p:sp>
      <p:sp>
        <p:nvSpPr>
          <p:cNvPr id="10" name="TextBox 9"/>
          <p:cNvSpPr txBox="1"/>
          <p:nvPr/>
        </p:nvSpPr>
        <p:spPr>
          <a:xfrm>
            <a:off x="239357" y="5984748"/>
            <a:ext cx="6217920" cy="332399"/>
          </a:xfrm>
          <a:prstGeom prst="rect">
            <a:avLst/>
          </a:prstGeom>
          <a:noFill/>
        </p:spPr>
        <p:txBody>
          <a:bodyPr wrap="square" lIns="45720" tIns="27432" rIns="45720" bIns="27432">
            <a:spAutoFit/>
          </a:bodyPr>
          <a:lstStyle/>
          <a:p>
            <a:pPr algn="l"/>
            <a:r>
              <a:rPr sz="1800" b="1">
                <a:solidFill>
                  <a:schemeClr val="bg1"/>
                </a:solidFill>
              </a:rPr>
              <a:t>Team: Tumbler Design</a:t>
            </a:r>
          </a:p>
        </p:txBody>
      </p:sp>
      <p:grpSp>
        <p:nvGrpSpPr>
          <p:cNvPr id="15" name="Group 14">
            <a:extLst>
              <a:ext uri="{FF2B5EF4-FFF2-40B4-BE49-F238E27FC236}">
                <a16:creationId xmlns:a16="http://schemas.microsoft.com/office/drawing/2014/main" id="{730423A5-710B-9274-B7EB-B067439951BF}"/>
              </a:ext>
            </a:extLst>
          </p:cNvPr>
          <p:cNvGrpSpPr/>
          <p:nvPr/>
        </p:nvGrpSpPr>
        <p:grpSpPr>
          <a:xfrm>
            <a:off x="4806696" y="924560"/>
            <a:ext cx="6790944" cy="4904740"/>
            <a:chOff x="4892040" y="1691640"/>
            <a:chExt cx="6355080" cy="4251960"/>
          </a:xfrm>
        </p:grpSpPr>
        <p:sp>
          <p:nvSpPr>
            <p:cNvPr id="12" name="Rounded Rectangle 11"/>
            <p:cNvSpPr/>
            <p:nvPr/>
          </p:nvSpPr>
          <p:spPr>
            <a:xfrm>
              <a:off x="4892040" y="1691640"/>
              <a:ext cx="6355080" cy="4251960"/>
            </a:xfrm>
            <a:prstGeom prst="roundRect">
              <a:avLst/>
            </a:prstGeom>
            <a:solidFill>
              <a:srgbClr val="FFFFFF"/>
            </a:solidFill>
            <a:ln>
              <a:solidFill>
                <a:srgbClr val="E8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3"/>
            <a:stretch>
              <a:fillRect/>
            </a:stretch>
          </p:blipFill>
          <p:spPr>
            <a:xfrm>
              <a:off x="5193792" y="1965960"/>
              <a:ext cx="5715000" cy="3520440"/>
            </a:xfrm>
            <a:prstGeom prst="rect">
              <a:avLst/>
            </a:prstGeom>
          </p:spPr>
        </p:pic>
      </p:grpSp>
      <p:sp>
        <p:nvSpPr>
          <p:cNvPr id="14" name="TextBox 13"/>
          <p:cNvSpPr txBox="1"/>
          <p:nvPr/>
        </p:nvSpPr>
        <p:spPr>
          <a:xfrm>
            <a:off x="5074920" y="6053328"/>
            <a:ext cx="6035040" cy="274320"/>
          </a:xfrm>
          <a:prstGeom prst="rect">
            <a:avLst/>
          </a:prstGeom>
          <a:noFill/>
        </p:spPr>
        <p:txBody>
          <a:bodyPr wrap="square" lIns="45720" tIns="27432" rIns="45720" bIns="27432">
            <a:spAutoFit/>
          </a:bodyPr>
          <a:lstStyle/>
          <a:p>
            <a:pPr algn="r"/>
            <a:r>
              <a:rPr sz="1200" b="0">
                <a:solidFill>
                  <a:srgbClr val="646C78"/>
                </a:solidFill>
              </a:rPr>
              <a:t>28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6473952"/>
            <a:ext cx="4754880" cy="164592"/>
          </a:xfrm>
          <a:prstGeom prst="rect">
            <a:avLst/>
          </a:prstGeom>
          <a:noFill/>
        </p:spPr>
        <p:txBody>
          <a:bodyPr wrap="none" lIns="0" tIns="0" rIns="0" bIns="0">
            <a:spAutoFit/>
          </a:bodyPr>
          <a:lstStyle/>
          <a:p>
            <a:r>
              <a:rPr sz="650">
                <a:solidFill>
                  <a:srgbClr val="646C78"/>
                </a:solidFill>
              </a:rPr>
              <a:t>AMADEE-27 · Tumbler Design · Final Semester Meeting</a:t>
            </a:r>
          </a:p>
        </p:txBody>
      </p:sp>
      <p:sp>
        <p:nvSpPr>
          <p:cNvPr id="37" name="Shape 12">
            <a:extLst>
              <a:ext uri="{FF2B5EF4-FFF2-40B4-BE49-F238E27FC236}">
                <a16:creationId xmlns:a16="http://schemas.microsoft.com/office/drawing/2014/main" id="{ECF1E696-9A7A-E368-35A7-F2F16EB6CBB9}"/>
              </a:ext>
            </a:extLst>
          </p:cNvPr>
          <p:cNvSpPr/>
          <p:nvPr/>
        </p:nvSpPr>
        <p:spPr>
          <a:xfrm>
            <a:off x="0" y="0"/>
            <a:ext cx="12191040" cy="18216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39">
            <a:extLst>
              <a:ext uri="{FF2B5EF4-FFF2-40B4-BE49-F238E27FC236}">
                <a16:creationId xmlns:a16="http://schemas.microsoft.com/office/drawing/2014/main" id="{38465403-1AC9-8FD5-3911-EDE42F4F3219}"/>
              </a:ext>
            </a:extLst>
          </p:cNvPr>
          <p:cNvSpPr/>
          <p:nvPr/>
        </p:nvSpPr>
        <p:spPr>
          <a:xfrm>
            <a:off x="502920" y="393120"/>
            <a:ext cx="34740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en-US" sz="850" b="0" u="none" strike="noStrike">
              <a:solidFill>
                <a:srgbClr val="000000"/>
              </a:solidFill>
              <a:effectLst/>
              <a:uFillTx/>
              <a:latin typeface="Arial"/>
            </a:endParaRPr>
          </a:p>
        </p:txBody>
      </p:sp>
      <p:sp>
        <p:nvSpPr>
          <p:cNvPr id="39" name="Text 40">
            <a:extLst>
              <a:ext uri="{FF2B5EF4-FFF2-40B4-BE49-F238E27FC236}">
                <a16:creationId xmlns:a16="http://schemas.microsoft.com/office/drawing/2014/main" id="{A427E517-412F-1759-C4AD-B6DA1FF1773B}"/>
              </a:ext>
            </a:extLst>
          </p:cNvPr>
          <p:cNvSpPr/>
          <p:nvPr/>
        </p:nvSpPr>
        <p:spPr>
          <a:xfrm>
            <a:off x="502920" y="658440"/>
            <a:ext cx="107892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What was the problem?</a:t>
            </a:r>
            <a:endParaRPr lang="en-US" sz="3200" b="0" u="none" strike="noStrike">
              <a:solidFill>
                <a:srgbClr val="000000"/>
              </a:solidFill>
              <a:effectLst/>
              <a:uFillTx/>
              <a:latin typeface="Arial"/>
            </a:endParaRPr>
          </a:p>
        </p:txBody>
      </p:sp>
      <p:pic>
        <p:nvPicPr>
          <p:cNvPr id="40" name="Picture 39">
            <a:extLst>
              <a:ext uri="{FF2B5EF4-FFF2-40B4-BE49-F238E27FC236}">
                <a16:creationId xmlns:a16="http://schemas.microsoft.com/office/drawing/2014/main" id="{19C9FFD0-BAD8-FA0E-72FB-9844A74E3DC1}"/>
              </a:ext>
            </a:extLst>
          </p:cNvPr>
          <p:cNvPicPr>
            <a:picLocks noChangeAspect="1"/>
          </p:cNvPicPr>
          <p:nvPr/>
        </p:nvPicPr>
        <p:blipFill>
          <a:blip r:embed="rId3"/>
          <a:stretch>
            <a:fillRect/>
          </a:stretch>
        </p:blipFill>
        <p:spPr>
          <a:xfrm>
            <a:off x="5257800" y="658440"/>
            <a:ext cx="6476263" cy="5677322"/>
          </a:xfrm>
          <a:prstGeom prst="rect">
            <a:avLst/>
          </a:prstGeom>
        </p:spPr>
      </p:pic>
      <p:grpSp>
        <p:nvGrpSpPr>
          <p:cNvPr id="43" name="Group 42">
            <a:extLst>
              <a:ext uri="{FF2B5EF4-FFF2-40B4-BE49-F238E27FC236}">
                <a16:creationId xmlns:a16="http://schemas.microsoft.com/office/drawing/2014/main" id="{A887F95C-52A1-5C8E-B6E9-0F8F9E4B91D4}"/>
              </a:ext>
            </a:extLst>
          </p:cNvPr>
          <p:cNvGrpSpPr/>
          <p:nvPr/>
        </p:nvGrpSpPr>
        <p:grpSpPr>
          <a:xfrm>
            <a:off x="775504" y="1591200"/>
            <a:ext cx="3790709" cy="4164484"/>
            <a:chOff x="548640" y="1869484"/>
            <a:chExt cx="3566160" cy="3886200"/>
          </a:xfrm>
        </p:grpSpPr>
        <p:grpSp>
          <p:nvGrpSpPr>
            <p:cNvPr id="41" name="Group 40">
              <a:extLst>
                <a:ext uri="{FF2B5EF4-FFF2-40B4-BE49-F238E27FC236}">
                  <a16:creationId xmlns:a16="http://schemas.microsoft.com/office/drawing/2014/main" id="{984853EE-5D3E-CF06-4C0B-B2A9717D0F3F}"/>
                </a:ext>
              </a:extLst>
            </p:cNvPr>
            <p:cNvGrpSpPr/>
            <p:nvPr/>
          </p:nvGrpSpPr>
          <p:grpSpPr>
            <a:xfrm>
              <a:off x="548640" y="1869484"/>
              <a:ext cx="3566160" cy="3886200"/>
              <a:chOff x="548640" y="1783080"/>
              <a:chExt cx="3566160" cy="3886200"/>
            </a:xfrm>
          </p:grpSpPr>
          <p:sp>
            <p:nvSpPr>
              <p:cNvPr id="8" name="Rounded Rectangle 7"/>
              <p:cNvSpPr/>
              <p:nvPr/>
            </p:nvSpPr>
            <p:spPr>
              <a:xfrm>
                <a:off x="548640" y="1783080"/>
                <a:ext cx="3566160" cy="3886200"/>
              </a:xfrm>
              <a:prstGeom prst="roundRect">
                <a:avLst/>
              </a:prstGeom>
              <a:solidFill>
                <a:srgbClr val="F8FAFD"/>
              </a:solidFill>
              <a:ln>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1540" y="2501348"/>
                <a:ext cx="2880360" cy="332399"/>
              </a:xfrm>
              <a:prstGeom prst="rect">
                <a:avLst/>
              </a:prstGeom>
              <a:noFill/>
            </p:spPr>
            <p:txBody>
              <a:bodyPr wrap="square" lIns="45720" tIns="27432" rIns="45720" bIns="27432">
                <a:spAutoFit/>
              </a:bodyPr>
              <a:lstStyle/>
              <a:p>
                <a:pPr marL="285750" indent="-285750" algn="l">
                  <a:buFont typeface="Wingdings" pitchFamily="2" charset="2"/>
                  <a:buChar char="Ø"/>
                </a:pPr>
                <a:r>
                  <a:rPr b="0">
                    <a:solidFill>
                      <a:srgbClr val="192232"/>
                    </a:solidFill>
                  </a:rPr>
                  <a:t>autonomous Tumbler</a:t>
                </a:r>
              </a:p>
            </p:txBody>
          </p:sp>
          <p:sp>
            <p:nvSpPr>
              <p:cNvPr id="12" name="TextBox 11"/>
              <p:cNvSpPr txBox="1"/>
              <p:nvPr/>
            </p:nvSpPr>
            <p:spPr>
              <a:xfrm>
                <a:off x="891540" y="3095708"/>
                <a:ext cx="2880360" cy="332399"/>
              </a:xfrm>
              <a:prstGeom prst="rect">
                <a:avLst/>
              </a:prstGeom>
              <a:noFill/>
            </p:spPr>
            <p:txBody>
              <a:bodyPr wrap="square" lIns="45720" tIns="27432" rIns="45720" bIns="27432">
                <a:spAutoFit/>
              </a:bodyPr>
              <a:lstStyle/>
              <a:p>
                <a:pPr marL="285750" indent="-285750" algn="l">
                  <a:buFont typeface="Wingdings" pitchFamily="2" charset="2"/>
                  <a:buChar char="Ø"/>
                </a:pPr>
                <a:r>
                  <a:rPr b="0">
                    <a:solidFill>
                      <a:srgbClr val="192232"/>
                    </a:solidFill>
                  </a:rPr>
                  <a:t>existing SKITH PCB</a:t>
                </a:r>
              </a:p>
            </p:txBody>
          </p:sp>
          <p:sp>
            <p:nvSpPr>
              <p:cNvPr id="14" name="TextBox 13"/>
              <p:cNvSpPr txBox="1"/>
              <p:nvPr/>
            </p:nvSpPr>
            <p:spPr>
              <a:xfrm>
                <a:off x="891540" y="3690068"/>
                <a:ext cx="2880360" cy="332399"/>
              </a:xfrm>
              <a:prstGeom prst="rect">
                <a:avLst/>
              </a:prstGeom>
              <a:noFill/>
            </p:spPr>
            <p:txBody>
              <a:bodyPr wrap="square" lIns="45720" tIns="27432" rIns="45720" bIns="27432">
                <a:spAutoFit/>
              </a:bodyPr>
              <a:lstStyle/>
              <a:p>
                <a:pPr marL="285750" indent="-285750" algn="l">
                  <a:buFont typeface="Wingdings" pitchFamily="2" charset="2"/>
                  <a:buChar char="Ø"/>
                </a:pPr>
                <a:r>
                  <a:rPr b="0">
                    <a:solidFill>
                      <a:srgbClr val="192232"/>
                    </a:solidFill>
                  </a:rPr>
                  <a:t>STM32F407 + DWM1000</a:t>
                </a:r>
              </a:p>
            </p:txBody>
          </p:sp>
          <p:sp>
            <p:nvSpPr>
              <p:cNvPr id="16" name="TextBox 15"/>
              <p:cNvSpPr txBox="1"/>
              <p:nvPr/>
            </p:nvSpPr>
            <p:spPr>
              <a:xfrm>
                <a:off x="891540" y="4284428"/>
                <a:ext cx="2880360" cy="609398"/>
              </a:xfrm>
              <a:prstGeom prst="rect">
                <a:avLst/>
              </a:prstGeom>
              <a:noFill/>
            </p:spPr>
            <p:txBody>
              <a:bodyPr wrap="square" lIns="45720" tIns="27432" rIns="45720" bIns="27432">
                <a:spAutoFit/>
              </a:bodyPr>
              <a:lstStyle/>
              <a:p>
                <a:pPr marL="285750" indent="-285750" algn="l">
                  <a:buFont typeface="Wingdings" pitchFamily="2" charset="2"/>
                  <a:buChar char="Ø"/>
                </a:pPr>
                <a:r>
                  <a:rPr b="0">
                    <a:solidFill>
                      <a:srgbClr val="192232"/>
                    </a:solidFill>
                  </a:rPr>
                  <a:t>RODOS-based UWB code</a:t>
                </a:r>
              </a:p>
            </p:txBody>
          </p:sp>
          <p:sp>
            <p:nvSpPr>
              <p:cNvPr id="18" name="TextBox 17"/>
              <p:cNvSpPr txBox="1"/>
              <p:nvPr/>
            </p:nvSpPr>
            <p:spPr>
              <a:xfrm>
                <a:off x="891540" y="4878788"/>
                <a:ext cx="2880360" cy="332399"/>
              </a:xfrm>
              <a:prstGeom prst="rect">
                <a:avLst/>
              </a:prstGeom>
              <a:noFill/>
            </p:spPr>
            <p:txBody>
              <a:bodyPr wrap="square" lIns="45720" tIns="27432" rIns="45720" bIns="27432">
                <a:spAutoFit/>
              </a:bodyPr>
              <a:lstStyle/>
              <a:p>
                <a:pPr marL="285750" indent="-285750" algn="l">
                  <a:buFont typeface="Wingdings" pitchFamily="2" charset="2"/>
                  <a:buChar char="Ø"/>
                </a:pPr>
                <a:r>
                  <a:rPr b="0">
                    <a:solidFill>
                      <a:srgbClr val="192232"/>
                    </a:solidFill>
                  </a:rPr>
                  <a:t>Release Unit still open</a:t>
                </a:r>
              </a:p>
            </p:txBody>
          </p:sp>
        </p:grpSp>
        <p:sp>
          <p:nvSpPr>
            <p:cNvPr id="42" name="TextBox 41">
              <a:extLst>
                <a:ext uri="{FF2B5EF4-FFF2-40B4-BE49-F238E27FC236}">
                  <a16:creationId xmlns:a16="http://schemas.microsoft.com/office/drawing/2014/main" id="{C6064D70-A893-1753-9750-592DD6C6775C}"/>
                </a:ext>
              </a:extLst>
            </p:cNvPr>
            <p:cNvSpPr txBox="1"/>
            <p:nvPr/>
          </p:nvSpPr>
          <p:spPr>
            <a:xfrm>
              <a:off x="891540" y="2016252"/>
              <a:ext cx="2880360" cy="424732"/>
            </a:xfrm>
            <a:prstGeom prst="rect">
              <a:avLst/>
            </a:prstGeom>
            <a:noFill/>
          </p:spPr>
          <p:txBody>
            <a:bodyPr wrap="square" lIns="45720" tIns="27432" rIns="45720" bIns="27432">
              <a:spAutoFit/>
            </a:bodyPr>
            <a:lstStyle/>
            <a:p>
              <a:r>
                <a:rPr lang="en-GB" sz="2400" b="1">
                  <a:solidFill>
                    <a:srgbClr val="192232"/>
                  </a:solidFill>
                </a:rPr>
                <a:t>Starting point</a:t>
              </a:r>
            </a:p>
          </p:txBody>
        </p:sp>
      </p:grpSp>
      <p:sp>
        <p:nvSpPr>
          <p:cNvPr id="45" name="Text 42">
            <a:extLst>
              <a:ext uri="{FF2B5EF4-FFF2-40B4-BE49-F238E27FC236}">
                <a16:creationId xmlns:a16="http://schemas.microsoft.com/office/drawing/2014/main" id="{516C1BE1-C8A4-3AC0-6C8E-4C898D43AA9D}"/>
              </a:ext>
            </a:extLst>
          </p:cNvPr>
          <p:cNvSpPr/>
          <p:nvPr/>
        </p:nvSpPr>
        <p:spPr>
          <a:xfrm>
            <a:off x="11475720" y="6565320"/>
            <a:ext cx="27360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b="0" u="none" strike="noStrike">
                <a:solidFill>
                  <a:srgbClr val="000000"/>
                </a:solidFill>
                <a:effectLst/>
                <a:uFillTx/>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2920" y="6473952"/>
            <a:ext cx="4754880" cy="164592"/>
          </a:xfrm>
          <a:prstGeom prst="rect">
            <a:avLst/>
          </a:prstGeom>
          <a:noFill/>
        </p:spPr>
        <p:txBody>
          <a:bodyPr wrap="none" lIns="0" tIns="0" rIns="0" bIns="0">
            <a:spAutoFit/>
          </a:bodyPr>
          <a:lstStyle/>
          <a:p>
            <a:r>
              <a:rPr sz="650">
                <a:solidFill>
                  <a:srgbClr val="646C78"/>
                </a:solidFill>
              </a:rPr>
              <a:t>AMADEE-27 · Tumbler Design · Final Semester Meeting</a:t>
            </a:r>
          </a:p>
        </p:txBody>
      </p:sp>
      <p:sp>
        <p:nvSpPr>
          <p:cNvPr id="36" name="Shape 12">
            <a:extLst>
              <a:ext uri="{FF2B5EF4-FFF2-40B4-BE49-F238E27FC236}">
                <a16:creationId xmlns:a16="http://schemas.microsoft.com/office/drawing/2014/main" id="{C2E24426-66CE-D53A-1CD4-580F678A4947}"/>
              </a:ext>
            </a:extLst>
          </p:cNvPr>
          <p:cNvSpPr/>
          <p:nvPr/>
        </p:nvSpPr>
        <p:spPr>
          <a:xfrm>
            <a:off x="0" y="0"/>
            <a:ext cx="12191040" cy="18216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 name="Text 39">
            <a:extLst>
              <a:ext uri="{FF2B5EF4-FFF2-40B4-BE49-F238E27FC236}">
                <a16:creationId xmlns:a16="http://schemas.microsoft.com/office/drawing/2014/main" id="{245E2D9B-267C-6693-B51E-B37EAB4B8AF2}"/>
              </a:ext>
            </a:extLst>
          </p:cNvPr>
          <p:cNvSpPr/>
          <p:nvPr/>
        </p:nvSpPr>
        <p:spPr>
          <a:xfrm>
            <a:off x="502920" y="393120"/>
            <a:ext cx="34740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en-US" sz="850" b="0" u="none" strike="noStrike">
              <a:solidFill>
                <a:srgbClr val="000000"/>
              </a:solidFill>
              <a:effectLst/>
              <a:uFillTx/>
              <a:latin typeface="Arial"/>
            </a:endParaRPr>
          </a:p>
        </p:txBody>
      </p:sp>
      <p:sp>
        <p:nvSpPr>
          <p:cNvPr id="40" name="Text 40">
            <a:extLst>
              <a:ext uri="{FF2B5EF4-FFF2-40B4-BE49-F238E27FC236}">
                <a16:creationId xmlns:a16="http://schemas.microsoft.com/office/drawing/2014/main" id="{12D28172-18BE-1FE8-9880-D5C0B1422287}"/>
              </a:ext>
            </a:extLst>
          </p:cNvPr>
          <p:cNvSpPr/>
          <p:nvPr/>
        </p:nvSpPr>
        <p:spPr>
          <a:xfrm>
            <a:off x="502920" y="658440"/>
            <a:ext cx="107892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How did we structure the work?</a:t>
            </a:r>
            <a:endParaRPr lang="en-US" sz="3200" b="0" u="none" strike="noStrike">
              <a:solidFill>
                <a:srgbClr val="000000"/>
              </a:solidFill>
              <a:effectLst/>
              <a:uFillTx/>
              <a:latin typeface="Arial"/>
            </a:endParaRPr>
          </a:p>
        </p:txBody>
      </p:sp>
      <p:pic>
        <p:nvPicPr>
          <p:cNvPr id="47" name="Picture 46">
            <a:extLst>
              <a:ext uri="{FF2B5EF4-FFF2-40B4-BE49-F238E27FC236}">
                <a16:creationId xmlns:a16="http://schemas.microsoft.com/office/drawing/2014/main" id="{7ED7D462-4C7A-B193-87E8-548BAA18E7E4}"/>
              </a:ext>
            </a:extLst>
          </p:cNvPr>
          <p:cNvPicPr>
            <a:picLocks noChangeAspect="1"/>
          </p:cNvPicPr>
          <p:nvPr/>
        </p:nvPicPr>
        <p:blipFill>
          <a:blip r:embed="rId3"/>
          <a:stretch>
            <a:fillRect/>
          </a:stretch>
        </p:blipFill>
        <p:spPr>
          <a:xfrm>
            <a:off x="31348" y="1407449"/>
            <a:ext cx="12129303" cy="4043101"/>
          </a:xfrm>
          <a:prstGeom prst="rect">
            <a:avLst/>
          </a:prstGeom>
        </p:spPr>
      </p:pic>
      <p:sp>
        <p:nvSpPr>
          <p:cNvPr id="48" name="Text 42">
            <a:extLst>
              <a:ext uri="{FF2B5EF4-FFF2-40B4-BE49-F238E27FC236}">
                <a16:creationId xmlns:a16="http://schemas.microsoft.com/office/drawing/2014/main" id="{181615E6-4B91-3F1D-2BF7-23E088C2339B}"/>
              </a:ext>
            </a:extLst>
          </p:cNvPr>
          <p:cNvSpPr/>
          <p:nvPr/>
        </p:nvSpPr>
        <p:spPr>
          <a:xfrm>
            <a:off x="11475720" y="6565320"/>
            <a:ext cx="27360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b="0" u="none" strike="noStrike">
                <a:solidFill>
                  <a:srgbClr val="7A8491"/>
                </a:solidFill>
                <a:effectLst/>
                <a:uFillTx/>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12"/>
          <p:cNvSpPr/>
          <p:nvPr/>
        </p:nvSpPr>
        <p:spPr>
          <a:xfrm>
            <a:off x="0" y="0"/>
            <a:ext cx="12191040" cy="18216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 name="Text 39"/>
          <p:cNvSpPr/>
          <p:nvPr/>
        </p:nvSpPr>
        <p:spPr>
          <a:xfrm>
            <a:off x="502920" y="393120"/>
            <a:ext cx="34740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en-US" sz="850" b="0" u="none" strike="noStrike">
              <a:solidFill>
                <a:srgbClr val="000000"/>
              </a:solidFill>
              <a:effectLst/>
              <a:uFillTx/>
              <a:latin typeface="Arial"/>
            </a:endParaRPr>
          </a:p>
        </p:txBody>
      </p:sp>
      <p:sp>
        <p:nvSpPr>
          <p:cNvPr id="75" name="Text 40"/>
          <p:cNvSpPr/>
          <p:nvPr/>
        </p:nvSpPr>
        <p:spPr>
          <a:xfrm>
            <a:off x="502920" y="658440"/>
            <a:ext cx="107892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Power Requirement</a:t>
            </a:r>
            <a:endParaRPr lang="en-US" sz="3200" b="0" u="none" strike="noStrike">
              <a:solidFill>
                <a:srgbClr val="000000"/>
              </a:solidFill>
              <a:effectLst/>
              <a:uFillTx/>
              <a:latin typeface="Arial"/>
            </a:endParaRPr>
          </a:p>
        </p:txBody>
      </p:sp>
      <p:sp>
        <p:nvSpPr>
          <p:cNvPr id="76" name="Text 41"/>
          <p:cNvSpPr/>
          <p:nvPr/>
        </p:nvSpPr>
        <p:spPr>
          <a:xfrm>
            <a:off x="502920" y="6565320"/>
            <a:ext cx="640008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u="none" strike="noStrike">
                <a:solidFill>
                  <a:srgbClr val="7A8491"/>
                </a:solidFill>
                <a:effectLst/>
                <a:uFillTx/>
                <a:latin typeface="Aptos"/>
                <a:ea typeface="Aptos"/>
              </a:rPr>
              <a:t>AMADEE-27 · Tumbler Design · Final Semester Meeting</a:t>
            </a:r>
            <a:endParaRPr lang="en-US" sz="680" b="0" u="none" strike="noStrike">
              <a:solidFill>
                <a:srgbClr val="000000"/>
              </a:solidFill>
              <a:effectLst/>
              <a:uFillTx/>
              <a:latin typeface="Arial"/>
            </a:endParaRPr>
          </a:p>
        </p:txBody>
      </p:sp>
      <p:sp>
        <p:nvSpPr>
          <p:cNvPr id="77" name="Text 42"/>
          <p:cNvSpPr/>
          <p:nvPr/>
        </p:nvSpPr>
        <p:spPr>
          <a:xfrm>
            <a:off x="11475720" y="6565320"/>
            <a:ext cx="27360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a:solidFill>
                  <a:srgbClr val="7A8491"/>
                </a:solidFill>
                <a:latin typeface="Aptos"/>
              </a:rPr>
              <a:t>4</a:t>
            </a:r>
            <a:endParaRPr lang="en-US" sz="680" b="0" u="none" strike="noStrike">
              <a:solidFill>
                <a:srgbClr val="000000"/>
              </a:solidFill>
              <a:effectLst/>
              <a:uFillTx/>
              <a:latin typeface="Arial"/>
            </a:endParaRPr>
          </a:p>
        </p:txBody>
      </p:sp>
      <p:pic>
        <p:nvPicPr>
          <p:cNvPr id="78" name="Picture 77"/>
          <p:cNvPicPr/>
          <p:nvPr/>
        </p:nvPicPr>
        <p:blipFill>
          <a:blip r:embed="rId3"/>
          <a:stretch/>
        </p:blipFill>
        <p:spPr>
          <a:xfrm>
            <a:off x="952200" y="1249560"/>
            <a:ext cx="10477440" cy="4944240"/>
          </a:xfrm>
          <a:prstGeom prst="rect">
            <a:avLst/>
          </a:prstGeom>
          <a:noFill/>
          <a:ln w="0">
            <a:noFill/>
          </a:ln>
        </p:spPr>
      </p:pic>
      <p:sp>
        <p:nvSpPr>
          <p:cNvPr id="20" name="Rectangle 19">
            <a:extLst>
              <a:ext uri="{FF2B5EF4-FFF2-40B4-BE49-F238E27FC236}">
                <a16:creationId xmlns:a16="http://schemas.microsoft.com/office/drawing/2014/main" id="{0329D8E4-ED62-71F5-F05D-4FAE93DFA2E9}"/>
              </a:ext>
            </a:extLst>
          </p:cNvPr>
          <p:cNvSpPr/>
          <p:nvPr/>
        </p:nvSpPr>
        <p:spPr>
          <a:xfrm>
            <a:off x="6948000" y="5839200"/>
            <a:ext cx="4709520" cy="54543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1" name="Triangle 20">
            <a:extLst>
              <a:ext uri="{FF2B5EF4-FFF2-40B4-BE49-F238E27FC236}">
                <a16:creationId xmlns:a16="http://schemas.microsoft.com/office/drawing/2014/main" id="{1C3201AC-C65E-6EF9-FDBC-F9EC05E4D750}"/>
              </a:ext>
            </a:extLst>
          </p:cNvPr>
          <p:cNvSpPr/>
          <p:nvPr/>
        </p:nvSpPr>
        <p:spPr>
          <a:xfrm rot="5400000">
            <a:off x="6894929" y="5760929"/>
            <a:ext cx="1066271" cy="960131"/>
          </a:xfrm>
          <a:prstGeom prst="triangle">
            <a:avLst>
              <a:gd name="adj" fmla="val 51370"/>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2" name="Rectangle 21">
            <a:extLst>
              <a:ext uri="{FF2B5EF4-FFF2-40B4-BE49-F238E27FC236}">
                <a16:creationId xmlns:a16="http://schemas.microsoft.com/office/drawing/2014/main" id="{F7C48519-46DD-3ACD-D77C-3457F61C3A98}"/>
              </a:ext>
            </a:extLst>
          </p:cNvPr>
          <p:cNvSpPr/>
          <p:nvPr/>
        </p:nvSpPr>
        <p:spPr>
          <a:xfrm>
            <a:off x="952200" y="5258870"/>
            <a:ext cx="10705320" cy="69037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3" name="Rectangle 22">
            <a:extLst>
              <a:ext uri="{FF2B5EF4-FFF2-40B4-BE49-F238E27FC236}">
                <a16:creationId xmlns:a16="http://schemas.microsoft.com/office/drawing/2014/main" id="{A3592A3D-DD50-07E4-2998-198859D6F198}"/>
              </a:ext>
            </a:extLst>
          </p:cNvPr>
          <p:cNvSpPr/>
          <p:nvPr/>
        </p:nvSpPr>
        <p:spPr>
          <a:xfrm>
            <a:off x="952199" y="4664484"/>
            <a:ext cx="6193667" cy="54543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4" name="Triangle 23">
            <a:extLst>
              <a:ext uri="{FF2B5EF4-FFF2-40B4-BE49-F238E27FC236}">
                <a16:creationId xmlns:a16="http://schemas.microsoft.com/office/drawing/2014/main" id="{9E1753F1-5FFB-B141-1E02-C8080339E812}"/>
              </a:ext>
            </a:extLst>
          </p:cNvPr>
          <p:cNvSpPr/>
          <p:nvPr/>
        </p:nvSpPr>
        <p:spPr>
          <a:xfrm rot="4328526">
            <a:off x="6778720" y="4766315"/>
            <a:ext cx="1070943" cy="688229"/>
          </a:xfrm>
          <a:prstGeom prst="triangle">
            <a:avLst>
              <a:gd name="adj" fmla="val 58073"/>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5" name="Rectangle 24">
            <a:extLst>
              <a:ext uri="{FF2B5EF4-FFF2-40B4-BE49-F238E27FC236}">
                <a16:creationId xmlns:a16="http://schemas.microsoft.com/office/drawing/2014/main" id="{61A79017-23D2-D1FE-1EF5-9B7892BFB2E8}"/>
              </a:ext>
            </a:extLst>
          </p:cNvPr>
          <p:cNvSpPr/>
          <p:nvPr/>
        </p:nvSpPr>
        <p:spPr>
          <a:xfrm>
            <a:off x="7039800" y="4773823"/>
            <a:ext cx="4709520" cy="54543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6" name="Triangle 25">
            <a:extLst>
              <a:ext uri="{FF2B5EF4-FFF2-40B4-BE49-F238E27FC236}">
                <a16:creationId xmlns:a16="http://schemas.microsoft.com/office/drawing/2014/main" id="{9BA2629D-FCE5-82BA-0F35-642688B6B466}"/>
              </a:ext>
            </a:extLst>
          </p:cNvPr>
          <p:cNvSpPr/>
          <p:nvPr/>
        </p:nvSpPr>
        <p:spPr>
          <a:xfrm rot="19095331">
            <a:off x="6868064" y="4275234"/>
            <a:ext cx="691576" cy="867069"/>
          </a:xfrm>
          <a:prstGeom prst="triangle">
            <a:avLst>
              <a:gd name="adj" fmla="val 53629"/>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7" name="Rectangle 26">
            <a:extLst>
              <a:ext uri="{FF2B5EF4-FFF2-40B4-BE49-F238E27FC236}">
                <a16:creationId xmlns:a16="http://schemas.microsoft.com/office/drawing/2014/main" id="{7679ED2E-A757-0600-914F-FB306D340F20}"/>
              </a:ext>
            </a:extLst>
          </p:cNvPr>
          <p:cNvSpPr/>
          <p:nvPr/>
        </p:nvSpPr>
        <p:spPr>
          <a:xfrm>
            <a:off x="6994371" y="3268980"/>
            <a:ext cx="4618149" cy="151912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8" name="Rectangle 27">
            <a:extLst>
              <a:ext uri="{FF2B5EF4-FFF2-40B4-BE49-F238E27FC236}">
                <a16:creationId xmlns:a16="http://schemas.microsoft.com/office/drawing/2014/main" id="{993F8117-C551-BAE4-0C2A-B07465B257E2}"/>
              </a:ext>
            </a:extLst>
          </p:cNvPr>
          <p:cNvSpPr/>
          <p:nvPr/>
        </p:nvSpPr>
        <p:spPr>
          <a:xfrm>
            <a:off x="711232" y="4072561"/>
            <a:ext cx="6283139" cy="54296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29" name="Rectangle 28">
            <a:extLst>
              <a:ext uri="{FF2B5EF4-FFF2-40B4-BE49-F238E27FC236}">
                <a16:creationId xmlns:a16="http://schemas.microsoft.com/office/drawing/2014/main" id="{A7DEFC74-E070-8BEA-8BAD-747777EB7553}"/>
              </a:ext>
            </a:extLst>
          </p:cNvPr>
          <p:cNvSpPr/>
          <p:nvPr/>
        </p:nvSpPr>
        <p:spPr>
          <a:xfrm>
            <a:off x="845820" y="3429000"/>
            <a:ext cx="6102179"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DE"/>
          </a:p>
        </p:txBody>
      </p:sp>
      <p:sp>
        <p:nvSpPr>
          <p:cNvPr id="31" name="Rectangle 30">
            <a:extLst>
              <a:ext uri="{FF2B5EF4-FFF2-40B4-BE49-F238E27FC236}">
                <a16:creationId xmlns:a16="http://schemas.microsoft.com/office/drawing/2014/main" id="{3485142B-50B2-50F0-6C80-7031B67A1DA4}"/>
              </a:ext>
            </a:extLst>
          </p:cNvPr>
          <p:cNvSpPr/>
          <p:nvPr/>
        </p:nvSpPr>
        <p:spPr>
          <a:xfrm>
            <a:off x="4697730" y="1114920"/>
            <a:ext cx="2295698" cy="23140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2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2" grpId="1" animBg="1"/>
      <p:bldP spid="23" grpId="0" animBg="1"/>
      <p:bldP spid="24" grpId="1" animBg="1"/>
      <p:bldP spid="25" grpId="0" animBg="1"/>
      <p:bldP spid="26" grpId="0" animBg="1"/>
      <p:bldP spid="27" grpId="0" animBg="1"/>
      <p:bldP spid="28" grpId="0" animBg="1"/>
      <p:bldP spid="29"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63251-FF6A-748B-63A3-DF51946D19C3}"/>
            </a:ext>
          </a:extLst>
        </p:cNvPr>
        <p:cNvGrpSpPr/>
        <p:nvPr/>
      </p:nvGrpSpPr>
      <p:grpSpPr>
        <a:xfrm>
          <a:off x="0" y="0"/>
          <a:ext cx="0" cy="0"/>
          <a:chOff x="0" y="0"/>
          <a:chExt cx="0" cy="0"/>
        </a:xfrm>
      </p:grpSpPr>
      <p:sp>
        <p:nvSpPr>
          <p:cNvPr id="73" name="Shape 12">
            <a:extLst>
              <a:ext uri="{FF2B5EF4-FFF2-40B4-BE49-F238E27FC236}">
                <a16:creationId xmlns:a16="http://schemas.microsoft.com/office/drawing/2014/main" id="{D522E7B3-1393-4034-FBD3-768E897C6568}"/>
              </a:ext>
            </a:extLst>
          </p:cNvPr>
          <p:cNvSpPr/>
          <p:nvPr/>
        </p:nvSpPr>
        <p:spPr>
          <a:xfrm>
            <a:off x="0" y="0"/>
            <a:ext cx="12191040" cy="18216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 name="Text 39">
            <a:extLst>
              <a:ext uri="{FF2B5EF4-FFF2-40B4-BE49-F238E27FC236}">
                <a16:creationId xmlns:a16="http://schemas.microsoft.com/office/drawing/2014/main" id="{8278C527-58A9-D7DD-42A2-1BB85426447C}"/>
              </a:ext>
            </a:extLst>
          </p:cNvPr>
          <p:cNvSpPr/>
          <p:nvPr/>
        </p:nvSpPr>
        <p:spPr>
          <a:xfrm>
            <a:off x="502920" y="393120"/>
            <a:ext cx="34740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en-US" sz="850" b="0" u="none" strike="noStrike">
              <a:solidFill>
                <a:srgbClr val="000000"/>
              </a:solidFill>
              <a:effectLst/>
              <a:uFillTx/>
              <a:latin typeface="Arial"/>
            </a:endParaRPr>
          </a:p>
        </p:txBody>
      </p:sp>
      <p:sp>
        <p:nvSpPr>
          <p:cNvPr id="75" name="Text 40">
            <a:extLst>
              <a:ext uri="{FF2B5EF4-FFF2-40B4-BE49-F238E27FC236}">
                <a16:creationId xmlns:a16="http://schemas.microsoft.com/office/drawing/2014/main" id="{FD6F64EA-C805-B313-1B0D-DA97950D3FCC}"/>
              </a:ext>
            </a:extLst>
          </p:cNvPr>
          <p:cNvSpPr/>
          <p:nvPr/>
        </p:nvSpPr>
        <p:spPr>
          <a:xfrm>
            <a:off x="502920" y="658440"/>
            <a:ext cx="107892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Power Requirement</a:t>
            </a:r>
            <a:endParaRPr lang="en-US" sz="3200" b="0" u="none" strike="noStrike">
              <a:solidFill>
                <a:srgbClr val="000000"/>
              </a:solidFill>
              <a:effectLst/>
              <a:uFillTx/>
              <a:latin typeface="Arial"/>
            </a:endParaRPr>
          </a:p>
        </p:txBody>
      </p:sp>
      <p:sp>
        <p:nvSpPr>
          <p:cNvPr id="76" name="Text 41">
            <a:extLst>
              <a:ext uri="{FF2B5EF4-FFF2-40B4-BE49-F238E27FC236}">
                <a16:creationId xmlns:a16="http://schemas.microsoft.com/office/drawing/2014/main" id="{6F1C7D9B-D8AC-D0BF-A0BF-902E4515D677}"/>
              </a:ext>
            </a:extLst>
          </p:cNvPr>
          <p:cNvSpPr/>
          <p:nvPr/>
        </p:nvSpPr>
        <p:spPr>
          <a:xfrm>
            <a:off x="502920" y="6565320"/>
            <a:ext cx="640008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u="none" strike="noStrike">
                <a:solidFill>
                  <a:srgbClr val="7A8491"/>
                </a:solidFill>
                <a:effectLst/>
                <a:uFillTx/>
                <a:latin typeface="Aptos"/>
                <a:ea typeface="Aptos"/>
              </a:rPr>
              <a:t>AMADEE-27 · Tumbler Design · Final Semester Meeting</a:t>
            </a:r>
            <a:endParaRPr lang="en-US" sz="680" b="0" u="none" strike="noStrike">
              <a:solidFill>
                <a:srgbClr val="000000"/>
              </a:solidFill>
              <a:effectLst/>
              <a:uFillTx/>
              <a:latin typeface="Arial"/>
            </a:endParaRPr>
          </a:p>
        </p:txBody>
      </p:sp>
      <p:sp>
        <p:nvSpPr>
          <p:cNvPr id="77" name="Text 42">
            <a:extLst>
              <a:ext uri="{FF2B5EF4-FFF2-40B4-BE49-F238E27FC236}">
                <a16:creationId xmlns:a16="http://schemas.microsoft.com/office/drawing/2014/main" id="{74D1AF40-3C95-18FF-BDAA-43387469D3CE}"/>
              </a:ext>
            </a:extLst>
          </p:cNvPr>
          <p:cNvSpPr/>
          <p:nvPr/>
        </p:nvSpPr>
        <p:spPr>
          <a:xfrm>
            <a:off x="11475720" y="6565320"/>
            <a:ext cx="27360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a:solidFill>
                  <a:srgbClr val="7A8491"/>
                </a:solidFill>
                <a:latin typeface="Aptos"/>
              </a:rPr>
              <a:t>4</a:t>
            </a:r>
            <a:endParaRPr lang="en-US" sz="680" b="0" u="none" strike="noStrike">
              <a:solidFill>
                <a:srgbClr val="000000"/>
              </a:solidFill>
              <a:effectLst/>
              <a:uFillTx/>
              <a:latin typeface="Arial"/>
            </a:endParaRPr>
          </a:p>
        </p:txBody>
      </p:sp>
      <p:pic>
        <p:nvPicPr>
          <p:cNvPr id="78" name="Picture 77">
            <a:extLst>
              <a:ext uri="{FF2B5EF4-FFF2-40B4-BE49-F238E27FC236}">
                <a16:creationId xmlns:a16="http://schemas.microsoft.com/office/drawing/2014/main" id="{3514B04A-D418-A7AA-5807-7A5782607759}"/>
              </a:ext>
            </a:extLst>
          </p:cNvPr>
          <p:cNvPicPr/>
          <p:nvPr/>
        </p:nvPicPr>
        <p:blipFill>
          <a:blip r:embed="rId3"/>
          <a:stretch/>
        </p:blipFill>
        <p:spPr>
          <a:xfrm>
            <a:off x="952200" y="1249560"/>
            <a:ext cx="10477440" cy="4944240"/>
          </a:xfrm>
          <a:prstGeom prst="rect">
            <a:avLst/>
          </a:prstGeom>
          <a:noFill/>
          <a:ln w="0">
            <a:noFill/>
          </a:ln>
        </p:spPr>
      </p:pic>
    </p:spTree>
    <p:extLst>
      <p:ext uri="{BB962C8B-B14F-4D97-AF65-F5344CB8AC3E}">
        <p14:creationId xmlns:p14="http://schemas.microsoft.com/office/powerpoint/2010/main" val="2731495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30"/>
          <p:cNvSpPr/>
          <p:nvPr/>
        </p:nvSpPr>
        <p:spPr>
          <a:xfrm>
            <a:off x="0" y="0"/>
            <a:ext cx="12191400" cy="18252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11" name="Text 1"/>
          <p:cNvSpPr/>
          <p:nvPr/>
        </p:nvSpPr>
        <p:spPr>
          <a:xfrm>
            <a:off x="502920" y="393120"/>
            <a:ext cx="3474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de-DE" sz="850" b="0" u="none" strike="noStrike">
              <a:solidFill>
                <a:srgbClr val="000000"/>
              </a:solidFill>
              <a:effectLst/>
              <a:uFillTx/>
              <a:latin typeface="DejaVu Sans"/>
            </a:endParaRPr>
          </a:p>
        </p:txBody>
      </p:sp>
      <p:sp>
        <p:nvSpPr>
          <p:cNvPr id="12" name="Text 2"/>
          <p:cNvSpPr/>
          <p:nvPr/>
        </p:nvSpPr>
        <p:spPr>
          <a:xfrm>
            <a:off x="502920" y="658440"/>
            <a:ext cx="10789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Tumbler Electronic Architecture</a:t>
            </a:r>
            <a:endParaRPr lang="de-DE" sz="3200" b="0" u="none" strike="noStrike">
              <a:solidFill>
                <a:srgbClr val="000000"/>
              </a:solidFill>
              <a:effectLst/>
              <a:uFillTx/>
              <a:latin typeface="DejaVu Sans"/>
            </a:endParaRPr>
          </a:p>
        </p:txBody>
      </p:sp>
      <p:sp>
        <p:nvSpPr>
          <p:cNvPr id="13" name="Text 3"/>
          <p:cNvSpPr/>
          <p:nvPr/>
        </p:nvSpPr>
        <p:spPr>
          <a:xfrm>
            <a:off x="502920" y="6565320"/>
            <a:ext cx="6400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u="none" strike="noStrike">
                <a:solidFill>
                  <a:srgbClr val="7A8491"/>
                </a:solidFill>
                <a:effectLst/>
                <a:uFillTx/>
                <a:latin typeface="Aptos"/>
                <a:ea typeface="Aptos"/>
              </a:rPr>
              <a:t>AMADEE-27 · Tumbler Design · Final Semester Meeting</a:t>
            </a:r>
            <a:endParaRPr lang="de-DE" sz="680" b="0" u="none" strike="noStrike">
              <a:solidFill>
                <a:srgbClr val="000000"/>
              </a:solidFill>
              <a:effectLst/>
              <a:uFillTx/>
              <a:latin typeface="DejaVu Sans"/>
            </a:endParaRPr>
          </a:p>
        </p:txBody>
      </p:sp>
      <p:sp>
        <p:nvSpPr>
          <p:cNvPr id="14" name="Text 4"/>
          <p:cNvSpPr/>
          <p:nvPr/>
        </p:nvSpPr>
        <p:spPr>
          <a:xfrm>
            <a:off x="11475720" y="6565320"/>
            <a:ext cx="273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a:solidFill>
                  <a:srgbClr val="7A8491"/>
                </a:solidFill>
                <a:latin typeface="Aptos"/>
              </a:rPr>
              <a:t>5</a:t>
            </a:r>
            <a:endParaRPr lang="de-DE" sz="680" b="0" u="none" strike="noStrike">
              <a:solidFill>
                <a:srgbClr val="000000"/>
              </a:solidFill>
              <a:effectLst/>
              <a:uFillTx/>
              <a:latin typeface="DejaVu Sans"/>
            </a:endParaRPr>
          </a:p>
        </p:txBody>
      </p:sp>
      <p:sp>
        <p:nvSpPr>
          <p:cNvPr id="15" name="Shape 31"/>
          <p:cNvSpPr/>
          <p:nvPr/>
        </p:nvSpPr>
        <p:spPr>
          <a:xfrm>
            <a:off x="540000" y="1620000"/>
            <a:ext cx="2742840" cy="3885480"/>
          </a:xfrm>
          <a:prstGeom prst="roundRect">
            <a:avLst>
              <a:gd name="adj" fmla="val 4444"/>
            </a:avLst>
          </a:prstGeom>
          <a:solidFill>
            <a:srgbClr val="F7F9FB"/>
          </a:solidFill>
          <a:ln w="8890">
            <a:solidFill>
              <a:srgbClr val="D8DE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16" name="Shape 32"/>
          <p:cNvSpPr/>
          <p:nvPr/>
        </p:nvSpPr>
        <p:spPr>
          <a:xfrm>
            <a:off x="540000" y="1620000"/>
            <a:ext cx="72720" cy="3885480"/>
          </a:xfrm>
          <a:prstGeom prst="rect">
            <a:avLst/>
          </a:prstGeom>
          <a:solidFill>
            <a:srgbClr val="2F5D8C"/>
          </a:solidFill>
          <a:ln w="12700">
            <a:solidFill>
              <a:srgbClr val="2F5D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17" name="Text 8"/>
          <p:cNvSpPr/>
          <p:nvPr/>
        </p:nvSpPr>
        <p:spPr>
          <a:xfrm>
            <a:off x="722880" y="1766160"/>
            <a:ext cx="2422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rgbClr val="14213D"/>
                </a:solidFill>
                <a:effectLst/>
                <a:uFillTx/>
                <a:latin typeface="Aptos Display"/>
                <a:ea typeface="Aptos Display"/>
              </a:rPr>
              <a:t>ETFE solar panel</a:t>
            </a:r>
            <a:endParaRPr lang="de-DE" sz="2400" b="0" u="none" strike="noStrike">
              <a:solidFill>
                <a:srgbClr val="000000"/>
              </a:solidFill>
              <a:effectLst/>
              <a:uFillTx/>
              <a:latin typeface="DejaVu Sans"/>
            </a:endParaRPr>
          </a:p>
        </p:txBody>
      </p:sp>
      <p:sp>
        <p:nvSpPr>
          <p:cNvPr id="18" name="Text 9"/>
          <p:cNvSpPr/>
          <p:nvPr/>
        </p:nvSpPr>
        <p:spPr>
          <a:xfrm>
            <a:off x="722880" y="2077200"/>
            <a:ext cx="2422800" cy="134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92500" lnSpcReduction="10000"/>
          </a:bodyPr>
          <a:lstStyle/>
          <a:p>
            <a:pPr marL="216000" indent="-216000" defTabSz="914400">
              <a:lnSpc>
                <a:spcPct val="100000"/>
              </a:lnSpc>
              <a:buClr>
                <a:srgbClr val="465260"/>
              </a:buClr>
              <a:buFont typeface="OpenSymbol"/>
              <a:buAutoNum type="alphaLcParenR"/>
              <a:tabLst>
                <a:tab pos="0" algn="l"/>
              </a:tabLst>
            </a:pPr>
            <a:r>
              <a:rPr lang="de-DE" sz="1000" b="1" u="none" strike="noStrike">
                <a:solidFill>
                  <a:srgbClr val="465260"/>
                </a:solidFill>
                <a:effectLst/>
                <a:uFillTx/>
                <a:latin typeface="DejaVu Sans"/>
                <a:ea typeface="Noto Sans"/>
              </a:rPr>
              <a:t>P124 1.2W 6V ~ 5400 mm²</a:t>
            </a:r>
            <a:endParaRPr lang="de-DE" sz="1000" b="1" u="none" strike="noStrike">
              <a:solidFill>
                <a:srgbClr val="000000"/>
              </a:solidFill>
              <a:effectLst/>
              <a:uFillTx/>
              <a:latin typeface="DejaVu Sans"/>
            </a:endParaRPr>
          </a:p>
          <a:p>
            <a:pPr marL="216000" indent="-216000" defTabSz="914400">
              <a:lnSpc>
                <a:spcPct val="100000"/>
              </a:lnSpc>
              <a:buClr>
                <a:srgbClr val="465260"/>
              </a:buClr>
              <a:buFont typeface="OpenSymbol"/>
              <a:buAutoNum type="alphaLcParenR"/>
              <a:tabLst>
                <a:tab pos="0" algn="l"/>
              </a:tabLst>
            </a:pPr>
            <a:r>
              <a:rPr lang="de-DE" sz="1000" b="1" u="none" strike="noStrike">
                <a:solidFill>
                  <a:srgbClr val="465260"/>
                </a:solidFill>
                <a:effectLst/>
                <a:uFillTx/>
                <a:latin typeface="DejaVu Sans"/>
                <a:ea typeface="Noto Sans"/>
              </a:rPr>
              <a:t>P122 0.3W 6V ~ 2500 mm²</a:t>
            </a:r>
            <a:endParaRPr lang="de-DE" sz="1000" b="1" u="none" strike="noStrike">
              <a:solidFill>
                <a:srgbClr val="000000"/>
              </a:solidFill>
              <a:effectLst/>
              <a:uFillTx/>
              <a:latin typeface="DejaVu Sans"/>
            </a:endParaRPr>
          </a:p>
          <a:p>
            <a:pPr defTabSz="914400">
              <a:lnSpc>
                <a:spcPct val="100000"/>
              </a:lnSpc>
              <a:tabLst>
                <a:tab pos="0" algn="l"/>
              </a:tabLst>
            </a:pPr>
            <a:endParaRPr lang="de-DE" sz="100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de-DE" sz="1000" b="0" u="none" strike="noStrike">
                <a:solidFill>
                  <a:srgbClr val="465260"/>
                </a:solidFill>
                <a:effectLst/>
                <a:uFillTx/>
                <a:latin typeface="DejaVu Sans"/>
                <a:ea typeface="Noto Sans"/>
              </a:rPr>
              <a:t>24.4% high-efficiency</a:t>
            </a:r>
            <a:endParaRPr lang="de-DE" sz="100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de-DE" sz="1000" b="0" u="none" strike="noStrike">
                <a:solidFill>
                  <a:srgbClr val="465260"/>
                </a:solidFill>
                <a:effectLst/>
                <a:uFillTx/>
                <a:latin typeface="DejaVu Sans"/>
                <a:ea typeface="Noto Sans"/>
              </a:rPr>
              <a:t>Low friction, anti-dust surface</a:t>
            </a:r>
            <a:endParaRPr lang="de-DE" sz="100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de-DE" sz="1000" b="0" u="none" strike="noStrike">
                <a:solidFill>
                  <a:srgbClr val="465260"/>
                </a:solidFill>
                <a:effectLst/>
                <a:uFillTx/>
                <a:latin typeface="DejaVu Sans"/>
                <a:ea typeface="Noto Sans"/>
              </a:rPr>
              <a:t>IPX7 waterproof rated</a:t>
            </a:r>
            <a:endParaRPr lang="de-DE" sz="1000" b="1" u="none" strike="noStrike">
              <a:solidFill>
                <a:srgbClr val="000000"/>
              </a:solidFill>
              <a:effectLst/>
              <a:uFillTx/>
              <a:latin typeface="DejaVu Sans"/>
            </a:endParaRPr>
          </a:p>
          <a:p>
            <a:pPr defTabSz="914400">
              <a:lnSpc>
                <a:spcPct val="100000"/>
              </a:lnSpc>
              <a:tabLst>
                <a:tab pos="0" algn="l"/>
              </a:tabLst>
            </a:pPr>
            <a:endParaRPr lang="de-DE" sz="1000" b="1" u="none" strike="noStrike">
              <a:solidFill>
                <a:srgbClr val="000000"/>
              </a:solidFill>
              <a:effectLst/>
              <a:uFillTx/>
              <a:latin typeface="DejaVu Sans"/>
            </a:endParaRPr>
          </a:p>
          <a:p>
            <a:pPr defTabSz="914400">
              <a:lnSpc>
                <a:spcPct val="100000"/>
              </a:lnSpc>
              <a:tabLst>
                <a:tab pos="0" algn="l"/>
              </a:tabLst>
            </a:pPr>
            <a:r>
              <a:rPr lang="de-DE" sz="1000" b="0" u="none" strike="noStrike">
                <a:solidFill>
                  <a:srgbClr val="465260"/>
                </a:solidFill>
                <a:effectLst/>
                <a:uFillTx/>
                <a:latin typeface="DejaVu Sans"/>
                <a:ea typeface="Noto Sans"/>
              </a:rPr>
              <a:t>Up to 5 panels can be soldered to the PCB</a:t>
            </a:r>
            <a:endParaRPr lang="de-DE" sz="1000" b="1" u="none" strike="noStrike">
              <a:solidFill>
                <a:srgbClr val="000000"/>
              </a:solidFill>
              <a:effectLst/>
              <a:uFillTx/>
              <a:latin typeface="DejaVu Sans"/>
            </a:endParaRPr>
          </a:p>
          <a:p>
            <a:pPr defTabSz="914400">
              <a:lnSpc>
                <a:spcPct val="100000"/>
              </a:lnSpc>
              <a:tabLst>
                <a:tab pos="0" algn="l"/>
              </a:tabLst>
            </a:pPr>
            <a:r>
              <a:rPr lang="de-DE" sz="1000" b="0" u="none" strike="noStrike">
                <a:solidFill>
                  <a:srgbClr val="465260"/>
                </a:solidFill>
                <a:effectLst/>
                <a:uFillTx/>
                <a:latin typeface="DejaVu Sans"/>
                <a:ea typeface="Noto Sans"/>
              </a:rPr>
              <a:t>(in parallel)</a:t>
            </a:r>
            <a:endParaRPr lang="de-DE" sz="1000" b="1" u="none" strike="noStrike">
              <a:solidFill>
                <a:srgbClr val="000000"/>
              </a:solidFill>
              <a:effectLst/>
              <a:uFillTx/>
              <a:latin typeface="DejaVu Sans"/>
            </a:endParaRPr>
          </a:p>
        </p:txBody>
      </p:sp>
      <p:sp>
        <p:nvSpPr>
          <p:cNvPr id="19" name="Shape 33"/>
          <p:cNvSpPr/>
          <p:nvPr/>
        </p:nvSpPr>
        <p:spPr>
          <a:xfrm>
            <a:off x="3466080" y="1620000"/>
            <a:ext cx="2742840" cy="3885480"/>
          </a:xfrm>
          <a:prstGeom prst="roundRect">
            <a:avLst>
              <a:gd name="adj" fmla="val 4444"/>
            </a:avLst>
          </a:prstGeom>
          <a:solidFill>
            <a:srgbClr val="F7F9FB"/>
          </a:solidFill>
          <a:ln w="8890">
            <a:solidFill>
              <a:srgbClr val="D8DE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20" name="Shape 34"/>
          <p:cNvSpPr/>
          <p:nvPr/>
        </p:nvSpPr>
        <p:spPr>
          <a:xfrm>
            <a:off x="3466080" y="1620000"/>
            <a:ext cx="72720" cy="3885480"/>
          </a:xfrm>
          <a:prstGeom prst="rect">
            <a:avLst/>
          </a:prstGeom>
          <a:solidFill>
            <a:srgbClr val="4C956C"/>
          </a:solidFill>
          <a:ln w="12700">
            <a:solidFill>
              <a:srgbClr val="4C95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21" name="Text 12"/>
          <p:cNvSpPr/>
          <p:nvPr/>
        </p:nvSpPr>
        <p:spPr>
          <a:xfrm>
            <a:off x="3648960" y="1766160"/>
            <a:ext cx="2422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rgbClr val="14213D"/>
                </a:solidFill>
                <a:effectLst/>
                <a:uFillTx/>
                <a:latin typeface="Aptos Display"/>
                <a:ea typeface="Aptos Display"/>
              </a:rPr>
              <a:t>Power Circuit</a:t>
            </a:r>
            <a:endParaRPr lang="de-DE" sz="2400" b="0" u="none" strike="noStrike">
              <a:solidFill>
                <a:srgbClr val="000000"/>
              </a:solidFill>
              <a:effectLst/>
              <a:uFillTx/>
              <a:latin typeface="DejaVu Sans"/>
            </a:endParaRPr>
          </a:p>
        </p:txBody>
      </p:sp>
      <p:sp>
        <p:nvSpPr>
          <p:cNvPr id="22" name="Text 13"/>
          <p:cNvSpPr/>
          <p:nvPr/>
        </p:nvSpPr>
        <p:spPr>
          <a:xfrm>
            <a:off x="3648960" y="2077200"/>
            <a:ext cx="24228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10000"/>
          </a:bodyPr>
          <a:lstStyle/>
          <a:p>
            <a:pPr defTabSz="914400">
              <a:lnSpc>
                <a:spcPct val="100000"/>
              </a:lnSpc>
              <a:tabLst>
                <a:tab pos="0" algn="l"/>
              </a:tabLst>
            </a:pPr>
            <a:r>
              <a:rPr lang="en-US" sz="950" b="1" u="none" strike="noStrike">
                <a:solidFill>
                  <a:srgbClr val="465260"/>
                </a:solidFill>
                <a:effectLst/>
                <a:uFillTx/>
                <a:latin typeface="Aptos"/>
                <a:ea typeface="Aptos"/>
              </a:rPr>
              <a:t>BQ25798 </a:t>
            </a:r>
            <a:r>
              <a:rPr lang="en-US" sz="950" b="0" u="none" strike="noStrike">
                <a:solidFill>
                  <a:srgbClr val="465260"/>
                </a:solidFill>
                <a:effectLst/>
                <a:uFillTx/>
                <a:latin typeface="Aptos"/>
                <a:ea typeface="Aptos"/>
              </a:rPr>
              <a:t>MPPT + Battery management</a:t>
            </a:r>
            <a:endParaRPr lang="de-DE" sz="950" b="1" u="none" strike="noStrike">
              <a:solidFill>
                <a:srgbClr val="000000"/>
              </a:solidFill>
              <a:effectLst/>
              <a:uFillTx/>
              <a:latin typeface="DejaVu Sans"/>
            </a:endParaRPr>
          </a:p>
          <a:p>
            <a:pPr defTabSz="914400">
              <a:lnSpc>
                <a:spcPct val="100000"/>
              </a:lnSpc>
              <a:tabLst>
                <a:tab pos="0" algn="l"/>
              </a:tabLst>
            </a:pPr>
            <a:r>
              <a:rPr lang="en-US" sz="950" b="1" u="none" strike="noStrike">
                <a:solidFill>
                  <a:srgbClr val="465260"/>
                </a:solidFill>
                <a:effectLst/>
                <a:uFillTx/>
                <a:latin typeface="Aptos"/>
                <a:ea typeface="Aptos"/>
              </a:rPr>
              <a:t>TPS62A056 </a:t>
            </a:r>
            <a:r>
              <a:rPr lang="en-US" sz="950" b="0" u="none" strike="noStrike">
                <a:solidFill>
                  <a:srgbClr val="465260"/>
                </a:solidFill>
                <a:effectLst/>
                <a:uFillTx/>
                <a:latin typeface="Aptos"/>
                <a:ea typeface="Aptos"/>
              </a:rPr>
              <a:t>High-Efficiency Buck Converter</a:t>
            </a:r>
            <a:endParaRPr lang="de-DE" sz="950" b="1" u="none" strike="noStrike">
              <a:solidFill>
                <a:srgbClr val="000000"/>
              </a:solidFill>
              <a:effectLst/>
              <a:uFillTx/>
              <a:latin typeface="DejaVu Sans"/>
            </a:endParaRPr>
          </a:p>
          <a:p>
            <a:pPr defTabSz="914400">
              <a:lnSpc>
                <a:spcPct val="100000"/>
              </a:lnSpc>
              <a:tabLst>
                <a:tab pos="0" algn="l"/>
              </a:tabLst>
            </a:pPr>
            <a:endParaRPr lang="de-DE" sz="950" b="1" u="none" strike="noStrike">
              <a:solidFill>
                <a:srgbClr val="000000"/>
              </a:solidFill>
              <a:effectLst/>
              <a:uFillTx/>
              <a:latin typeface="DejaVu Sans"/>
            </a:endParaRPr>
          </a:p>
          <a:p>
            <a:pPr defTabSz="914400">
              <a:lnSpc>
                <a:spcPct val="100000"/>
              </a:lnSpc>
              <a:tabLst>
                <a:tab pos="0" algn="l"/>
              </a:tabLst>
            </a:pPr>
            <a:r>
              <a:rPr lang="en-US" sz="950" b="1" u="none" strike="noStrike">
                <a:solidFill>
                  <a:srgbClr val="465260"/>
                </a:solidFill>
                <a:effectLst/>
                <a:uFillTx/>
                <a:latin typeface="Aptos"/>
                <a:ea typeface="Aptos"/>
              </a:rPr>
              <a:t>4000mAh Lipo</a:t>
            </a:r>
            <a:endParaRPr lang="de-DE" sz="950" b="1" u="none" strike="noStrike">
              <a:solidFill>
                <a:srgbClr val="000000"/>
              </a:solidFill>
              <a:effectLst/>
              <a:uFillTx/>
              <a:latin typeface="DejaVu Sans"/>
            </a:endParaRPr>
          </a:p>
          <a:p>
            <a:pPr defTabSz="914400">
              <a:lnSpc>
                <a:spcPct val="100000"/>
              </a:lnSpc>
              <a:tabLst>
                <a:tab pos="0" algn="l"/>
              </a:tabLst>
            </a:pPr>
            <a:r>
              <a:rPr lang="en-US" sz="950" b="0" u="none" strike="noStrike">
                <a:solidFill>
                  <a:srgbClr val="465260"/>
                </a:solidFill>
                <a:effectLst/>
                <a:uFillTx/>
                <a:latin typeface="Aptos"/>
                <a:ea typeface="Aptos"/>
              </a:rPr>
              <a:t>Battery charging via USB-C interface</a:t>
            </a:r>
            <a:endParaRPr lang="de-DE" sz="950" b="1" u="none" strike="noStrike">
              <a:solidFill>
                <a:srgbClr val="000000"/>
              </a:solidFill>
              <a:effectLst/>
              <a:uFillTx/>
              <a:latin typeface="DejaVu Sans"/>
            </a:endParaRPr>
          </a:p>
        </p:txBody>
      </p:sp>
      <p:sp>
        <p:nvSpPr>
          <p:cNvPr id="23" name="Shape 35"/>
          <p:cNvSpPr/>
          <p:nvPr/>
        </p:nvSpPr>
        <p:spPr>
          <a:xfrm>
            <a:off x="6392160" y="1620000"/>
            <a:ext cx="2742840" cy="3885480"/>
          </a:xfrm>
          <a:prstGeom prst="roundRect">
            <a:avLst>
              <a:gd name="adj" fmla="val 4444"/>
            </a:avLst>
          </a:prstGeom>
          <a:solidFill>
            <a:srgbClr val="F7F9FB"/>
          </a:solidFill>
          <a:ln w="8890">
            <a:solidFill>
              <a:srgbClr val="D8DE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24" name="Shape 36"/>
          <p:cNvSpPr/>
          <p:nvPr/>
        </p:nvSpPr>
        <p:spPr>
          <a:xfrm>
            <a:off x="6392160" y="1620000"/>
            <a:ext cx="72720" cy="3895200"/>
          </a:xfrm>
          <a:prstGeom prst="rect">
            <a:avLst/>
          </a:prstGeom>
          <a:solidFill>
            <a:srgbClr val="F28C28"/>
          </a:solidFill>
          <a:ln w="12700">
            <a:solidFill>
              <a:srgbClr val="F28C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25" name="Text 16"/>
          <p:cNvSpPr/>
          <p:nvPr/>
        </p:nvSpPr>
        <p:spPr>
          <a:xfrm>
            <a:off x="6575040" y="1766160"/>
            <a:ext cx="2422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rgbClr val="14213D"/>
                </a:solidFill>
                <a:effectLst/>
                <a:uFillTx/>
                <a:latin typeface="Aptos Display"/>
                <a:ea typeface="Aptos Display"/>
              </a:rPr>
              <a:t>Microcontroller</a:t>
            </a:r>
            <a:endParaRPr lang="de-DE" sz="2400" b="0" u="none" strike="noStrike">
              <a:solidFill>
                <a:srgbClr val="000000"/>
              </a:solidFill>
              <a:effectLst/>
              <a:uFillTx/>
              <a:latin typeface="DejaVu Sans"/>
            </a:endParaRPr>
          </a:p>
        </p:txBody>
      </p:sp>
      <p:sp>
        <p:nvSpPr>
          <p:cNvPr id="26" name="Text 17"/>
          <p:cNvSpPr/>
          <p:nvPr/>
        </p:nvSpPr>
        <p:spPr>
          <a:xfrm>
            <a:off x="6575040" y="2077200"/>
            <a:ext cx="2422800" cy="116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950" b="1" u="none" strike="noStrike">
                <a:solidFill>
                  <a:srgbClr val="465260"/>
                </a:solidFill>
                <a:effectLst/>
                <a:uFillTx/>
                <a:latin typeface="Aptos"/>
                <a:ea typeface="Aptos"/>
              </a:rPr>
              <a:t>STM32L4</a:t>
            </a:r>
            <a:r>
              <a:rPr lang="en-US" sz="950" b="0" u="none" strike="noStrike">
                <a:solidFill>
                  <a:srgbClr val="465260"/>
                </a:solidFill>
                <a:effectLst/>
                <a:uFillTx/>
                <a:latin typeface="Aptos"/>
                <a:ea typeface="Aptos"/>
              </a:rPr>
              <a:t>31CCT6</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Ultra-low-power</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Arm Cortex-M4 MCU 80 MHz </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256 Kbytes of Flash memory</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with FPU</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I2C and SPI</a:t>
            </a:r>
            <a:endParaRPr lang="de-DE" sz="950" b="1" u="none" strike="noStrike">
              <a:solidFill>
                <a:srgbClr val="000000"/>
              </a:solidFill>
              <a:effectLst/>
              <a:uFillTx/>
              <a:latin typeface="DejaVu Sans"/>
            </a:endParaRPr>
          </a:p>
          <a:p>
            <a:pPr marL="216000" indent="-216000" defTabSz="914400">
              <a:lnSpc>
                <a:spcPct val="100000"/>
              </a:lnSpc>
              <a:buClr>
                <a:srgbClr val="465260"/>
              </a:buClr>
              <a:buSzPct val="45000"/>
              <a:buFont typeface="Wingdings" charset="2"/>
              <a:buChar char=""/>
              <a:tabLst>
                <a:tab pos="0" algn="l"/>
              </a:tabLst>
            </a:pPr>
            <a:r>
              <a:rPr lang="en-US" sz="950" b="0" u="none" strike="noStrike">
                <a:solidFill>
                  <a:srgbClr val="465260"/>
                </a:solidFill>
                <a:effectLst/>
                <a:uFillTx/>
                <a:latin typeface="Aptos"/>
                <a:ea typeface="Aptos"/>
              </a:rPr>
              <a:t>standard ST-Link debugging</a:t>
            </a:r>
            <a:endParaRPr lang="de-DE" sz="950" b="1" u="none" strike="noStrike">
              <a:solidFill>
                <a:srgbClr val="000000"/>
              </a:solidFill>
              <a:effectLst/>
              <a:uFillTx/>
              <a:latin typeface="DejaVu Sans"/>
            </a:endParaRPr>
          </a:p>
          <a:p>
            <a:pPr defTabSz="914400">
              <a:lnSpc>
                <a:spcPct val="100000"/>
              </a:lnSpc>
              <a:spcBef>
                <a:spcPts val="1191"/>
              </a:spcBef>
              <a:spcAft>
                <a:spcPts val="992"/>
              </a:spcAft>
              <a:tabLst>
                <a:tab pos="0" algn="l"/>
              </a:tabLst>
            </a:pPr>
            <a:endParaRPr lang="de-DE" sz="950" b="0" u="none" strike="noStrike">
              <a:solidFill>
                <a:srgbClr val="000000"/>
              </a:solidFill>
              <a:effectLst/>
              <a:uFillTx/>
              <a:latin typeface="DejaVu Sans"/>
            </a:endParaRPr>
          </a:p>
          <a:p>
            <a:pPr defTabSz="914400">
              <a:lnSpc>
                <a:spcPct val="100000"/>
              </a:lnSpc>
              <a:tabLst>
                <a:tab pos="0" algn="l"/>
              </a:tabLst>
            </a:pPr>
            <a:endParaRPr lang="de-DE" sz="950" b="1" u="none" strike="noStrike">
              <a:solidFill>
                <a:srgbClr val="000000"/>
              </a:solidFill>
              <a:effectLst/>
              <a:uFillTx/>
              <a:latin typeface="DejaVu Sans"/>
            </a:endParaRPr>
          </a:p>
        </p:txBody>
      </p:sp>
      <p:sp>
        <p:nvSpPr>
          <p:cNvPr id="27" name="Shape 37"/>
          <p:cNvSpPr/>
          <p:nvPr/>
        </p:nvSpPr>
        <p:spPr>
          <a:xfrm>
            <a:off x="9318240" y="1620000"/>
            <a:ext cx="2057040" cy="3885480"/>
          </a:xfrm>
          <a:prstGeom prst="roundRect">
            <a:avLst>
              <a:gd name="adj" fmla="val 4444"/>
            </a:avLst>
          </a:prstGeom>
          <a:solidFill>
            <a:srgbClr val="F7F9FB"/>
          </a:solidFill>
          <a:ln w="8890">
            <a:solidFill>
              <a:srgbClr val="D8DE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28" name="Shape 38"/>
          <p:cNvSpPr/>
          <p:nvPr/>
        </p:nvSpPr>
        <p:spPr>
          <a:xfrm>
            <a:off x="9318240" y="1620000"/>
            <a:ext cx="72720" cy="3889440"/>
          </a:xfrm>
          <a:prstGeom prst="rect">
            <a:avLst/>
          </a:prstGeom>
          <a:solidFill>
            <a:srgbClr val="6E44FF"/>
          </a:solidFill>
          <a:ln w="12700">
            <a:solidFill>
              <a:srgbClr val="6E4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29" name="Text 20"/>
          <p:cNvSpPr/>
          <p:nvPr/>
        </p:nvSpPr>
        <p:spPr>
          <a:xfrm>
            <a:off x="9501120" y="1766160"/>
            <a:ext cx="17370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rgbClr val="14213D"/>
                </a:solidFill>
                <a:effectLst/>
                <a:uFillTx/>
                <a:latin typeface="Aptos Display"/>
                <a:ea typeface="Aptos Display"/>
              </a:rPr>
              <a:t>UWB Chip</a:t>
            </a:r>
            <a:endParaRPr lang="de-DE" sz="2400" b="0" u="none" strike="noStrike">
              <a:solidFill>
                <a:srgbClr val="000000"/>
              </a:solidFill>
              <a:effectLst/>
              <a:uFillTx/>
              <a:latin typeface="DejaVu Sans"/>
            </a:endParaRPr>
          </a:p>
        </p:txBody>
      </p:sp>
      <p:sp>
        <p:nvSpPr>
          <p:cNvPr id="30" name="Text 21"/>
          <p:cNvSpPr/>
          <p:nvPr/>
        </p:nvSpPr>
        <p:spPr>
          <a:xfrm>
            <a:off x="9501120" y="2077200"/>
            <a:ext cx="17370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950" b="1" u="none" strike="noStrike">
                <a:solidFill>
                  <a:srgbClr val="465260"/>
                </a:solidFill>
                <a:effectLst/>
                <a:uFillTx/>
                <a:latin typeface="Aptos"/>
                <a:ea typeface="Aptos"/>
              </a:rPr>
              <a:t>DWM3000</a:t>
            </a:r>
            <a:endParaRPr lang="de-DE" sz="950" b="0" u="none" strike="noStrike">
              <a:solidFill>
                <a:srgbClr val="000000"/>
              </a:solidFill>
              <a:effectLst/>
              <a:uFillTx/>
              <a:latin typeface="DejaVu Sans"/>
            </a:endParaRPr>
          </a:p>
          <a:p>
            <a:pPr defTabSz="914400">
              <a:lnSpc>
                <a:spcPct val="100000"/>
              </a:lnSpc>
              <a:tabLst>
                <a:tab pos="0" algn="l"/>
              </a:tabLst>
            </a:pPr>
            <a:r>
              <a:rPr lang="en-US" sz="950" b="0" u="none" strike="noStrike">
                <a:solidFill>
                  <a:srgbClr val="465260"/>
                </a:solidFill>
                <a:effectLst/>
                <a:uFillTx/>
                <a:latin typeface="Aptos"/>
                <a:ea typeface="Aptos"/>
              </a:rPr>
              <a:t>Pin and pitch compatible with the DWM1000</a:t>
            </a:r>
            <a:endParaRPr lang="de-DE" sz="950" b="0" u="none" strike="noStrike">
              <a:solidFill>
                <a:srgbClr val="000000"/>
              </a:solidFill>
              <a:effectLst/>
              <a:uFillTx/>
              <a:latin typeface="DejaVu Sans"/>
            </a:endParaRPr>
          </a:p>
        </p:txBody>
      </p:sp>
      <p:pic>
        <p:nvPicPr>
          <p:cNvPr id="31" name="Picture 30"/>
          <p:cNvPicPr/>
          <p:nvPr/>
        </p:nvPicPr>
        <p:blipFill>
          <a:blip r:embed="rId3"/>
          <a:stretch/>
        </p:blipFill>
        <p:spPr>
          <a:xfrm>
            <a:off x="1080000" y="3600000"/>
            <a:ext cx="1620000" cy="1620000"/>
          </a:xfrm>
          <a:prstGeom prst="rect">
            <a:avLst/>
          </a:prstGeom>
          <a:noFill/>
          <a:ln w="38160">
            <a:noFill/>
          </a:ln>
        </p:spPr>
      </p:pic>
      <p:pic>
        <p:nvPicPr>
          <p:cNvPr id="32" name="Picture 31"/>
          <p:cNvPicPr/>
          <p:nvPr/>
        </p:nvPicPr>
        <p:blipFill>
          <a:blip r:embed="rId4"/>
          <a:stretch/>
        </p:blipFill>
        <p:spPr>
          <a:xfrm>
            <a:off x="4140000" y="2985480"/>
            <a:ext cx="1440000" cy="1440000"/>
          </a:xfrm>
          <a:prstGeom prst="rect">
            <a:avLst/>
          </a:prstGeom>
          <a:noFill/>
          <a:ln w="38160">
            <a:noFill/>
          </a:ln>
        </p:spPr>
      </p:pic>
      <p:pic>
        <p:nvPicPr>
          <p:cNvPr id="33" name="Picture 32"/>
          <p:cNvPicPr/>
          <p:nvPr/>
        </p:nvPicPr>
        <p:blipFill>
          <a:blip r:embed="rId5"/>
          <a:stretch/>
        </p:blipFill>
        <p:spPr>
          <a:xfrm>
            <a:off x="4315320" y="4187520"/>
            <a:ext cx="1080000" cy="1080000"/>
          </a:xfrm>
          <a:prstGeom prst="rect">
            <a:avLst/>
          </a:prstGeom>
          <a:noFill/>
          <a:ln w="38160">
            <a:noFill/>
          </a:ln>
        </p:spPr>
      </p:pic>
      <p:pic>
        <p:nvPicPr>
          <p:cNvPr id="34" name="Picture 33"/>
          <p:cNvPicPr/>
          <p:nvPr/>
        </p:nvPicPr>
        <p:blipFill>
          <a:blip r:embed="rId6"/>
          <a:stretch/>
        </p:blipFill>
        <p:spPr>
          <a:xfrm>
            <a:off x="7020000" y="3600000"/>
            <a:ext cx="1440000" cy="1440000"/>
          </a:xfrm>
          <a:prstGeom prst="rect">
            <a:avLst/>
          </a:prstGeom>
          <a:noFill/>
          <a:ln w="38160">
            <a:noFill/>
          </a:ln>
        </p:spPr>
      </p:pic>
      <p:pic>
        <p:nvPicPr>
          <p:cNvPr id="35" name="Picture 34"/>
          <p:cNvPicPr/>
          <p:nvPr/>
        </p:nvPicPr>
        <p:blipFill>
          <a:blip r:embed="rId7"/>
          <a:stretch/>
        </p:blipFill>
        <p:spPr>
          <a:xfrm>
            <a:off x="9720000" y="3780000"/>
            <a:ext cx="1334520" cy="1334520"/>
          </a:xfrm>
          <a:prstGeom prst="rect">
            <a:avLst/>
          </a:prstGeom>
          <a:noFill/>
          <a:ln w="3816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p:nvPr/>
        </p:nvPicPr>
        <p:blipFill>
          <a:blip r:embed="rId3"/>
          <a:srcRect l="11738" r="14895"/>
          <a:stretch/>
        </p:blipFill>
        <p:spPr>
          <a:xfrm>
            <a:off x="540000" y="1260000"/>
            <a:ext cx="5580000" cy="5149800"/>
          </a:xfrm>
          <a:prstGeom prst="rect">
            <a:avLst/>
          </a:prstGeom>
          <a:noFill/>
          <a:ln w="38160">
            <a:noFill/>
          </a:ln>
        </p:spPr>
      </p:pic>
      <p:pic>
        <p:nvPicPr>
          <p:cNvPr id="37" name="Picture 36"/>
          <p:cNvPicPr/>
          <p:nvPr/>
        </p:nvPicPr>
        <p:blipFill>
          <a:blip r:embed="rId4"/>
          <a:srcRect l="17824" r="17613"/>
          <a:stretch/>
        </p:blipFill>
        <p:spPr>
          <a:xfrm>
            <a:off x="6840000" y="1273320"/>
            <a:ext cx="4859640" cy="5096520"/>
          </a:xfrm>
          <a:prstGeom prst="rect">
            <a:avLst/>
          </a:prstGeom>
          <a:noFill/>
          <a:ln w="38160">
            <a:noFill/>
          </a:ln>
        </p:spPr>
      </p:pic>
      <p:sp>
        <p:nvSpPr>
          <p:cNvPr id="38" name="Shape 2"/>
          <p:cNvSpPr/>
          <p:nvPr/>
        </p:nvSpPr>
        <p:spPr>
          <a:xfrm>
            <a:off x="0" y="0"/>
            <a:ext cx="12191400" cy="18252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39" name="Text 1"/>
          <p:cNvSpPr/>
          <p:nvPr/>
        </p:nvSpPr>
        <p:spPr>
          <a:xfrm>
            <a:off x="502920" y="393120"/>
            <a:ext cx="3474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de-DE" sz="850" b="0" u="none" strike="noStrike">
              <a:solidFill>
                <a:srgbClr val="000000"/>
              </a:solidFill>
              <a:effectLst/>
              <a:uFillTx/>
              <a:latin typeface="DejaVu Sans"/>
            </a:endParaRPr>
          </a:p>
        </p:txBody>
      </p:sp>
      <p:sp>
        <p:nvSpPr>
          <p:cNvPr id="40" name="Text 2"/>
          <p:cNvSpPr/>
          <p:nvPr/>
        </p:nvSpPr>
        <p:spPr>
          <a:xfrm>
            <a:off x="502920" y="658440"/>
            <a:ext cx="10789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Tumbler PCB</a:t>
            </a:r>
            <a:endParaRPr lang="de-DE" sz="3200" b="0" u="none" strike="noStrike">
              <a:solidFill>
                <a:srgbClr val="000000"/>
              </a:solidFill>
              <a:effectLst/>
              <a:uFillTx/>
              <a:latin typeface="DejaVu Sans"/>
            </a:endParaRPr>
          </a:p>
        </p:txBody>
      </p:sp>
      <p:sp>
        <p:nvSpPr>
          <p:cNvPr id="41" name="Text 3"/>
          <p:cNvSpPr/>
          <p:nvPr/>
        </p:nvSpPr>
        <p:spPr>
          <a:xfrm>
            <a:off x="502920" y="6565320"/>
            <a:ext cx="6400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u="none" strike="noStrike">
                <a:solidFill>
                  <a:srgbClr val="7A8491"/>
                </a:solidFill>
                <a:effectLst/>
                <a:uFillTx/>
                <a:latin typeface="Aptos"/>
                <a:ea typeface="Aptos"/>
              </a:rPr>
              <a:t>AMADEE-27 · Tumbler Design · Final Semester Meeting</a:t>
            </a:r>
            <a:endParaRPr lang="de-DE" sz="680" b="0" u="none" strike="noStrike">
              <a:solidFill>
                <a:srgbClr val="000000"/>
              </a:solidFill>
              <a:effectLst/>
              <a:uFillTx/>
              <a:latin typeface="DejaVu Sans"/>
            </a:endParaRPr>
          </a:p>
        </p:txBody>
      </p:sp>
      <p:sp>
        <p:nvSpPr>
          <p:cNvPr id="42" name="Text 4"/>
          <p:cNvSpPr/>
          <p:nvPr/>
        </p:nvSpPr>
        <p:spPr>
          <a:xfrm>
            <a:off x="11475720" y="6565320"/>
            <a:ext cx="273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a:solidFill>
                  <a:srgbClr val="7A8491"/>
                </a:solidFill>
                <a:latin typeface="Aptos"/>
              </a:rPr>
              <a:t>6</a:t>
            </a:r>
            <a:endParaRPr lang="de-DE" sz="680" b="0" u="none" strike="noStrike">
              <a:solidFill>
                <a:srgbClr val="000000"/>
              </a:solidFill>
              <a:effectLst/>
              <a:uFillTx/>
              <a:latin typeface="DejaVu Sans"/>
            </a:endParaRPr>
          </a:p>
        </p:txBody>
      </p:sp>
      <p:sp>
        <p:nvSpPr>
          <p:cNvPr id="43" name="Shape 4"/>
          <p:cNvSpPr/>
          <p:nvPr/>
        </p:nvSpPr>
        <p:spPr>
          <a:xfrm>
            <a:off x="900000" y="3715560"/>
            <a:ext cx="1202040" cy="1116000"/>
          </a:xfrm>
          <a:prstGeom prst="rect">
            <a:avLst/>
          </a:prstGeom>
          <a:solidFill>
            <a:srgbClr val="2F5D8C">
              <a:alpha val="50000"/>
            </a:srgbClr>
          </a:solidFill>
          <a:ln w="12700">
            <a:solidFill>
              <a:srgbClr val="2F5D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44" name="Shape 20"/>
          <p:cNvSpPr/>
          <p:nvPr/>
        </p:nvSpPr>
        <p:spPr>
          <a:xfrm>
            <a:off x="2626200" y="3446280"/>
            <a:ext cx="617760" cy="621000"/>
          </a:xfrm>
          <a:prstGeom prst="rect">
            <a:avLst/>
          </a:prstGeom>
          <a:solidFill>
            <a:srgbClr val="4C956C">
              <a:alpha val="50000"/>
            </a:srgbClr>
          </a:solidFill>
          <a:ln w="12700">
            <a:solidFill>
              <a:srgbClr val="4C95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45" name="Shape 29"/>
          <p:cNvSpPr/>
          <p:nvPr/>
        </p:nvSpPr>
        <p:spPr>
          <a:xfrm>
            <a:off x="4111200" y="3695760"/>
            <a:ext cx="1339200" cy="1359000"/>
          </a:xfrm>
          <a:prstGeom prst="rect">
            <a:avLst/>
          </a:prstGeom>
          <a:solidFill>
            <a:srgbClr val="F28C28">
              <a:alpha val="50000"/>
            </a:srgbClr>
          </a:solidFill>
          <a:ln w="12700">
            <a:solidFill>
              <a:srgbClr val="F28C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000000"/>
              </a:solidFill>
              <a:effectLst/>
              <a:uFillTx/>
              <a:latin typeface="DejaVu Sans"/>
            </a:endParaRPr>
          </a:p>
        </p:txBody>
      </p:sp>
      <p:sp>
        <p:nvSpPr>
          <p:cNvPr id="46" name="Text 16"/>
          <p:cNvSpPr/>
          <p:nvPr/>
        </p:nvSpPr>
        <p:spPr>
          <a:xfrm>
            <a:off x="4111200" y="3715560"/>
            <a:ext cx="1339200" cy="135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de-DE" sz="1100" b="0" u="none" strike="noStrike">
              <a:solidFill>
                <a:srgbClr val="FFFFFF"/>
              </a:solidFill>
              <a:effectLst/>
              <a:uFillTx/>
              <a:latin typeface="DejaVu Sans"/>
            </a:endParaRPr>
          </a:p>
        </p:txBody>
      </p:sp>
      <p:sp>
        <p:nvSpPr>
          <p:cNvPr id="47" name="Shape 40"/>
          <p:cNvSpPr/>
          <p:nvPr/>
        </p:nvSpPr>
        <p:spPr>
          <a:xfrm>
            <a:off x="8334720" y="1273320"/>
            <a:ext cx="1818360" cy="3092760"/>
          </a:xfrm>
          <a:prstGeom prst="rect">
            <a:avLst/>
          </a:prstGeom>
          <a:solidFill>
            <a:srgbClr val="6E44FF">
              <a:alpha val="25000"/>
            </a:srgbClr>
          </a:solidFill>
          <a:ln w="12700">
            <a:solidFill>
              <a:srgbClr val="6E4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48" name="Text 20"/>
          <p:cNvSpPr/>
          <p:nvPr/>
        </p:nvSpPr>
        <p:spPr>
          <a:xfrm>
            <a:off x="8334720" y="982080"/>
            <a:ext cx="1818360" cy="29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tabLst>
                <a:tab pos="0" algn="l"/>
              </a:tabLst>
            </a:pPr>
            <a:endParaRPr lang="de-DE" sz="1800" b="0" u="none" strike="noStrike">
              <a:solidFill>
                <a:srgbClr val="000000"/>
              </a:solidFill>
              <a:effectLst/>
              <a:uFillTx/>
              <a:latin typeface="DejaVu Sans"/>
            </a:endParaRPr>
          </a:p>
        </p:txBody>
      </p:sp>
      <p:sp>
        <p:nvSpPr>
          <p:cNvPr id="49" name="Shape 3"/>
          <p:cNvSpPr/>
          <p:nvPr/>
        </p:nvSpPr>
        <p:spPr>
          <a:xfrm>
            <a:off x="3078360" y="4906080"/>
            <a:ext cx="371520" cy="347400"/>
          </a:xfrm>
          <a:prstGeom prst="rect">
            <a:avLst/>
          </a:prstGeom>
          <a:solidFill>
            <a:srgbClr val="4C956C">
              <a:alpha val="50000"/>
            </a:srgbClr>
          </a:solidFill>
          <a:ln w="12700">
            <a:solidFill>
              <a:srgbClr val="4C95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de-DE" sz="1800" b="0" u="none" strike="noStrike">
                <a:solidFill>
                  <a:srgbClr val="FFFFFF"/>
                </a:solidFill>
                <a:effectLst/>
                <a:uFillTx/>
                <a:latin typeface="DejaVu Sans"/>
              </a:rPr>
              <a:t> </a:t>
            </a:r>
          </a:p>
        </p:txBody>
      </p:sp>
      <p:sp>
        <p:nvSpPr>
          <p:cNvPr id="50" name="Shape 17"/>
          <p:cNvSpPr/>
          <p:nvPr/>
        </p:nvSpPr>
        <p:spPr>
          <a:xfrm>
            <a:off x="10374120" y="3703320"/>
            <a:ext cx="1201320" cy="1519920"/>
          </a:xfrm>
          <a:prstGeom prst="rect">
            <a:avLst/>
          </a:prstGeom>
          <a:solidFill>
            <a:srgbClr val="2F5D8C">
              <a:alpha val="50000"/>
            </a:srgbClr>
          </a:solidFill>
          <a:ln w="12700">
            <a:solidFill>
              <a:srgbClr val="2F5D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
        <p:nvSpPr>
          <p:cNvPr id="51" name="Shape 27"/>
          <p:cNvSpPr/>
          <p:nvPr/>
        </p:nvSpPr>
        <p:spPr>
          <a:xfrm>
            <a:off x="10425240" y="2647080"/>
            <a:ext cx="1169280" cy="723240"/>
          </a:xfrm>
          <a:prstGeom prst="rect">
            <a:avLst/>
          </a:prstGeom>
          <a:solidFill>
            <a:srgbClr val="4C956C">
              <a:alpha val="50000"/>
            </a:srgbClr>
          </a:solidFill>
          <a:ln w="12700">
            <a:solidFill>
              <a:srgbClr val="4C956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DE" sz="1800" b="0" u="none" strike="noStrike">
              <a:solidFill>
                <a:srgbClr val="FFFFFF"/>
              </a:solidFill>
              <a:effectLst/>
              <a:uFillTx/>
              <a:latin typeface="DejaVu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14213D"/>
          </a:solidFill>
          <a:ln w="12700">
            <a:solidFill>
              <a:srgbClr val="14213D"/>
            </a:solidFill>
            <a:prstDash val="solid"/>
          </a:ln>
        </p:spPr>
        <p:txBody>
          <a:bodyPr/>
          <a:lstStyle/>
          <a:p>
            <a:endParaRPr lang="en-DE"/>
          </a:p>
        </p:txBody>
      </p:sp>
      <p:sp>
        <p:nvSpPr>
          <p:cNvPr id="3" name="Text 1"/>
          <p:cNvSpPr/>
          <p:nvPr/>
        </p:nvSpPr>
        <p:spPr>
          <a:xfrm>
            <a:off x="502920" y="393192"/>
            <a:ext cx="3474720" cy="228600"/>
          </a:xfrm>
          <a:prstGeom prst="rect">
            <a:avLst/>
          </a:prstGeom>
          <a:noFill/>
          <a:ln/>
        </p:spPr>
        <p:txBody>
          <a:bodyPr wrap="square" lIns="0" tIns="0" rIns="0" bIns="0" rtlCol="0" anchor="ctr"/>
          <a:lstStyle/>
          <a:p>
            <a:pPr marL="0" indent="0">
              <a:buNone/>
            </a:pPr>
            <a:r>
              <a:rPr lang="en-US" sz="850" b="1" dirty="0">
                <a:solidFill>
                  <a:srgbClr val="2F5D8C"/>
                </a:solidFill>
                <a:latin typeface="Aptos" pitchFamily="34" charset="0"/>
                <a:ea typeface="Aptos" pitchFamily="34" charset="-122"/>
                <a:cs typeface="Aptos" pitchFamily="34" charset="-120"/>
              </a:rPr>
              <a:t>TUMBLER DESIGN</a:t>
            </a:r>
            <a:endParaRPr lang="en-US" sz="850" dirty="0"/>
          </a:p>
        </p:txBody>
      </p:sp>
      <p:sp>
        <p:nvSpPr>
          <p:cNvPr id="4" name="Text 2"/>
          <p:cNvSpPr/>
          <p:nvPr/>
        </p:nvSpPr>
        <p:spPr>
          <a:xfrm>
            <a:off x="502920" y="658368"/>
            <a:ext cx="10789920" cy="457200"/>
          </a:xfrm>
          <a:prstGeom prst="rect">
            <a:avLst/>
          </a:prstGeom>
          <a:noFill/>
          <a:ln/>
        </p:spPr>
        <p:txBody>
          <a:bodyPr wrap="square" lIns="0" tIns="0" rIns="0" bIns="0" rtlCol="0" anchor="ctr"/>
          <a:lstStyle/>
          <a:p>
            <a:pPr marL="0" indent="0">
              <a:buNone/>
            </a:pPr>
            <a:r>
              <a:rPr lang="en-US" sz="3200" b="1" dirty="0">
                <a:solidFill>
                  <a:srgbClr val="14213D"/>
                </a:solidFill>
                <a:latin typeface="Aptos Display" pitchFamily="34" charset="0"/>
                <a:ea typeface="Aptos Display" pitchFamily="34" charset="-122"/>
                <a:cs typeface="Aptos Display" pitchFamily="34" charset="-120"/>
              </a:rPr>
              <a:t>Interface with the Release Unit</a:t>
            </a:r>
            <a:endParaRPr lang="en-US" sz="3200" dirty="0"/>
          </a:p>
        </p:txBody>
      </p:sp>
      <p:sp>
        <p:nvSpPr>
          <p:cNvPr id="5" name="Text 3"/>
          <p:cNvSpPr/>
          <p:nvPr/>
        </p:nvSpPr>
        <p:spPr>
          <a:xfrm>
            <a:off x="502920" y="6565392"/>
            <a:ext cx="6400800" cy="164592"/>
          </a:xfrm>
          <a:prstGeom prst="rect">
            <a:avLst/>
          </a:prstGeom>
          <a:noFill/>
          <a:ln/>
        </p:spPr>
        <p:txBody>
          <a:bodyPr wrap="square" lIns="0" tIns="0" rIns="0" bIns="0" rtlCol="0" anchor="ctr"/>
          <a:lstStyle/>
          <a:p>
            <a:pPr marL="0" indent="0">
              <a:buNone/>
            </a:pPr>
            <a:r>
              <a:rPr lang="en-US" sz="680" dirty="0">
                <a:solidFill>
                  <a:srgbClr val="7A8491"/>
                </a:solidFill>
                <a:latin typeface="Aptos" pitchFamily="34" charset="0"/>
                <a:ea typeface="Aptos" pitchFamily="34" charset="-122"/>
                <a:cs typeface="Aptos" pitchFamily="34" charset="-120"/>
              </a:rPr>
              <a:t>AMADEE-27 · Tumbler Design · Final Semester Meeting</a:t>
            </a:r>
            <a:endParaRPr lang="en-US" sz="680" dirty="0"/>
          </a:p>
        </p:txBody>
      </p:sp>
      <p:sp>
        <p:nvSpPr>
          <p:cNvPr id="6" name="Text 4"/>
          <p:cNvSpPr/>
          <p:nvPr/>
        </p:nvSpPr>
        <p:spPr>
          <a:xfrm>
            <a:off x="11475720" y="6565392"/>
            <a:ext cx="274320" cy="164592"/>
          </a:xfrm>
          <a:prstGeom prst="rect">
            <a:avLst/>
          </a:prstGeom>
          <a:noFill/>
          <a:ln/>
        </p:spPr>
        <p:txBody>
          <a:bodyPr wrap="square" lIns="0" tIns="0" rIns="0" bIns="0" rtlCol="0" anchor="ctr"/>
          <a:lstStyle/>
          <a:p>
            <a:pPr marL="0" indent="0" algn="r">
              <a:buNone/>
            </a:pPr>
            <a:r>
              <a:rPr lang="en-US" sz="680" dirty="0">
                <a:solidFill>
                  <a:srgbClr val="7A8491"/>
                </a:solidFill>
                <a:latin typeface="Aptos" pitchFamily="34" charset="0"/>
              </a:rPr>
              <a:t>7</a:t>
            </a:r>
            <a:endParaRPr lang="en-US" sz="680" dirty="0"/>
          </a:p>
        </p:txBody>
      </p:sp>
      <p:sp>
        <p:nvSpPr>
          <p:cNvPr id="25" name="Shape 14">
            <a:extLst>
              <a:ext uri="{FF2B5EF4-FFF2-40B4-BE49-F238E27FC236}">
                <a16:creationId xmlns:a16="http://schemas.microsoft.com/office/drawing/2014/main" id="{4E0B8889-3AEA-CFA8-8327-E2300BC9D68E}"/>
              </a:ext>
            </a:extLst>
          </p:cNvPr>
          <p:cNvSpPr/>
          <p:nvPr/>
        </p:nvSpPr>
        <p:spPr>
          <a:xfrm>
            <a:off x="4518660" y="3378708"/>
            <a:ext cx="3154680" cy="576072"/>
          </a:xfrm>
          <a:prstGeom prst="chevron">
            <a:avLst/>
          </a:prstGeom>
          <a:solidFill>
            <a:srgbClr val="3465A4"/>
          </a:solidFill>
          <a:ln w="12700">
            <a:solidFill>
              <a:srgbClr val="3465A4"/>
            </a:solidFill>
            <a:prstDash val="solid"/>
          </a:ln>
        </p:spPr>
        <p:txBody>
          <a:bodyPr/>
          <a:lstStyle/>
          <a:p>
            <a:endParaRPr lang="en-DE"/>
          </a:p>
        </p:txBody>
      </p:sp>
      <p:grpSp>
        <p:nvGrpSpPr>
          <p:cNvPr id="50" name="Group 49">
            <a:extLst>
              <a:ext uri="{FF2B5EF4-FFF2-40B4-BE49-F238E27FC236}">
                <a16:creationId xmlns:a16="http://schemas.microsoft.com/office/drawing/2014/main" id="{109BC761-F0E3-8401-D58C-F0701D2C20E2}"/>
              </a:ext>
            </a:extLst>
          </p:cNvPr>
          <p:cNvGrpSpPr/>
          <p:nvPr/>
        </p:nvGrpSpPr>
        <p:grpSpPr>
          <a:xfrm>
            <a:off x="7756205" y="1783080"/>
            <a:ext cx="3933028" cy="4114800"/>
            <a:chOff x="8534400" y="1316736"/>
            <a:chExt cx="3154680" cy="4114800"/>
          </a:xfrm>
        </p:grpSpPr>
        <p:sp>
          <p:nvSpPr>
            <p:cNvPr id="27" name="Shape 16">
              <a:extLst>
                <a:ext uri="{FF2B5EF4-FFF2-40B4-BE49-F238E27FC236}">
                  <a16:creationId xmlns:a16="http://schemas.microsoft.com/office/drawing/2014/main" id="{5D5AE9DD-FC7D-E2A6-DF06-678A541CFAFB}"/>
                </a:ext>
              </a:extLst>
            </p:cNvPr>
            <p:cNvSpPr/>
            <p:nvPr/>
          </p:nvSpPr>
          <p:spPr>
            <a:xfrm>
              <a:off x="8534400" y="1316736"/>
              <a:ext cx="3154680" cy="4114800"/>
            </a:xfrm>
            <a:prstGeom prst="roundRect">
              <a:avLst>
                <a:gd name="adj" fmla="val 2319"/>
              </a:avLst>
            </a:prstGeom>
            <a:solidFill>
              <a:srgbClr val="FFF8EF"/>
            </a:solidFill>
            <a:ln w="12700">
              <a:solidFill>
                <a:srgbClr val="D8DEE8"/>
              </a:solidFill>
              <a:prstDash val="solid"/>
            </a:ln>
          </p:spPr>
          <p:txBody>
            <a:bodyPr/>
            <a:lstStyle/>
            <a:p>
              <a:endParaRPr lang="en-DE"/>
            </a:p>
          </p:txBody>
        </p:sp>
        <p:sp>
          <p:nvSpPr>
            <p:cNvPr id="28" name="Text 17">
              <a:extLst>
                <a:ext uri="{FF2B5EF4-FFF2-40B4-BE49-F238E27FC236}">
                  <a16:creationId xmlns:a16="http://schemas.microsoft.com/office/drawing/2014/main" id="{37C071AC-887D-FE23-490E-A81563CB76F0}"/>
                </a:ext>
              </a:extLst>
            </p:cNvPr>
            <p:cNvSpPr/>
            <p:nvPr/>
          </p:nvSpPr>
          <p:spPr>
            <a:xfrm>
              <a:off x="8534400" y="1591056"/>
              <a:ext cx="3154680" cy="256032"/>
            </a:xfrm>
            <a:prstGeom prst="rect">
              <a:avLst/>
            </a:prstGeom>
            <a:noFill/>
            <a:ln/>
          </p:spPr>
          <p:txBody>
            <a:bodyPr wrap="square" lIns="0" tIns="0" rIns="0" bIns="0" rtlCol="0" anchor="ctr">
              <a:noAutofit/>
            </a:bodyPr>
            <a:lstStyle/>
            <a:p>
              <a:pPr marL="0" indent="0" algn="ctr">
                <a:buNone/>
              </a:pPr>
              <a:r>
                <a:rPr lang="en-US" sz="2400" b="1" dirty="0">
                  <a:solidFill>
                    <a:srgbClr val="262626"/>
                  </a:solidFill>
                  <a:latin typeface="Aptos Display" pitchFamily="34" charset="0"/>
                  <a:ea typeface="Aptos Display" pitchFamily="34" charset="-122"/>
                  <a:cs typeface="Aptos Display" pitchFamily="34" charset="-120"/>
                </a:rPr>
                <a:t>Design response</a:t>
              </a:r>
              <a:endParaRPr lang="en-US" sz="2400" dirty="0"/>
            </a:p>
          </p:txBody>
        </p:sp>
        <p:sp>
          <p:nvSpPr>
            <p:cNvPr id="30" name="Text 19">
              <a:extLst>
                <a:ext uri="{FF2B5EF4-FFF2-40B4-BE49-F238E27FC236}">
                  <a16:creationId xmlns:a16="http://schemas.microsoft.com/office/drawing/2014/main" id="{64ED9D75-69BD-40E2-9404-C58E511D1BC9}"/>
                </a:ext>
              </a:extLst>
            </p:cNvPr>
            <p:cNvSpPr/>
            <p:nvPr/>
          </p:nvSpPr>
          <p:spPr>
            <a:xfrm>
              <a:off x="9006840" y="2578608"/>
              <a:ext cx="2286000" cy="256032"/>
            </a:xfrm>
            <a:prstGeom prst="rect">
              <a:avLst/>
            </a:prstGeom>
            <a:noFill/>
            <a:ln/>
          </p:spPr>
          <p:txBody>
            <a:bodyPr wrap="square" lIns="0" tIns="0" rIns="0" bIns="0" rtlCol="0" anchor="ctr">
              <a:no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rigid alternatives</a:t>
              </a:r>
              <a:endParaRPr lang="en-US" dirty="0"/>
            </a:p>
          </p:txBody>
        </p:sp>
        <p:sp>
          <p:nvSpPr>
            <p:cNvPr id="36" name="Text 25">
              <a:extLst>
                <a:ext uri="{FF2B5EF4-FFF2-40B4-BE49-F238E27FC236}">
                  <a16:creationId xmlns:a16="http://schemas.microsoft.com/office/drawing/2014/main" id="{530B4035-5339-CE3C-6527-88B6510CE4A4}"/>
                </a:ext>
              </a:extLst>
            </p:cNvPr>
            <p:cNvSpPr/>
            <p:nvPr/>
          </p:nvSpPr>
          <p:spPr>
            <a:xfrm>
              <a:off x="8968740" y="3822192"/>
              <a:ext cx="2286000" cy="256032"/>
            </a:xfrm>
            <a:prstGeom prst="rect">
              <a:avLst/>
            </a:prstGeom>
            <a:noFill/>
            <a:ln/>
          </p:spPr>
          <p:txBody>
            <a:bodyPr wrap="square" lIns="0" tIns="0" rIns="0" bIns="0" rtlCol="0" anchor="ctr">
              <a:no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release compatibility</a:t>
              </a:r>
              <a:endParaRPr lang="en-US" dirty="0"/>
            </a:p>
          </p:txBody>
        </p:sp>
      </p:grpSp>
      <p:grpSp>
        <p:nvGrpSpPr>
          <p:cNvPr id="48" name="Group 47">
            <a:extLst>
              <a:ext uri="{FF2B5EF4-FFF2-40B4-BE49-F238E27FC236}">
                <a16:creationId xmlns:a16="http://schemas.microsoft.com/office/drawing/2014/main" id="{92D4895B-82EA-6EF3-9DAB-91552AED31CC}"/>
              </a:ext>
            </a:extLst>
          </p:cNvPr>
          <p:cNvGrpSpPr/>
          <p:nvPr/>
        </p:nvGrpSpPr>
        <p:grpSpPr>
          <a:xfrm>
            <a:off x="503073" y="1783080"/>
            <a:ext cx="3932722" cy="4114800"/>
            <a:chOff x="502920" y="1316736"/>
            <a:chExt cx="4133248" cy="4114800"/>
          </a:xfrm>
        </p:grpSpPr>
        <p:sp>
          <p:nvSpPr>
            <p:cNvPr id="38" name="Shape 4">
              <a:extLst>
                <a:ext uri="{FF2B5EF4-FFF2-40B4-BE49-F238E27FC236}">
                  <a16:creationId xmlns:a16="http://schemas.microsoft.com/office/drawing/2014/main" id="{D1AF9DD7-5574-EFB3-F403-3171B466E7F5}"/>
                </a:ext>
              </a:extLst>
            </p:cNvPr>
            <p:cNvSpPr/>
            <p:nvPr/>
          </p:nvSpPr>
          <p:spPr>
            <a:xfrm>
              <a:off x="502920" y="1316736"/>
              <a:ext cx="4133248" cy="4114800"/>
            </a:xfrm>
            <a:prstGeom prst="roundRect">
              <a:avLst>
                <a:gd name="adj" fmla="val 2319"/>
              </a:avLst>
            </a:prstGeom>
            <a:solidFill>
              <a:srgbClr val="F6FAFF"/>
            </a:solidFill>
            <a:ln w="12700">
              <a:solidFill>
                <a:srgbClr val="D8DEE8"/>
              </a:solidFill>
              <a:prstDash val="solid"/>
            </a:ln>
          </p:spPr>
          <p:txBody>
            <a:bodyPr/>
            <a:lstStyle/>
            <a:p>
              <a:endParaRPr lang="en-DE"/>
            </a:p>
          </p:txBody>
        </p:sp>
        <p:sp>
          <p:nvSpPr>
            <p:cNvPr id="39" name="Text 5">
              <a:extLst>
                <a:ext uri="{FF2B5EF4-FFF2-40B4-BE49-F238E27FC236}">
                  <a16:creationId xmlns:a16="http://schemas.microsoft.com/office/drawing/2014/main" id="{4E895B5D-9F3E-2425-57E2-050ECD003DCB}"/>
                </a:ext>
              </a:extLst>
            </p:cNvPr>
            <p:cNvSpPr/>
            <p:nvPr/>
          </p:nvSpPr>
          <p:spPr>
            <a:xfrm>
              <a:off x="502920" y="1591056"/>
              <a:ext cx="4133248" cy="256032"/>
            </a:xfrm>
            <a:prstGeom prst="rect">
              <a:avLst/>
            </a:prstGeom>
            <a:noFill/>
            <a:ln/>
          </p:spPr>
          <p:txBody>
            <a:bodyPr wrap="square" lIns="0" tIns="0" rIns="0" bIns="0" rtlCol="0" anchor="ctr">
              <a:noAutofit/>
            </a:bodyPr>
            <a:lstStyle/>
            <a:p>
              <a:pPr marL="0" indent="0" algn="ctr">
                <a:buNone/>
              </a:pPr>
              <a:r>
                <a:rPr lang="en-US" sz="2400" b="1" dirty="0">
                  <a:solidFill>
                    <a:srgbClr val="262626"/>
                  </a:solidFill>
                  <a:latin typeface="Aptos Display" pitchFamily="34" charset="0"/>
                  <a:ea typeface="Aptos Display" pitchFamily="34" charset="-122"/>
                  <a:cs typeface="Aptos Display" pitchFamily="34" charset="-120"/>
                </a:rPr>
                <a:t>Release constraints</a:t>
              </a:r>
              <a:endParaRPr lang="en-US" sz="2400" dirty="0"/>
            </a:p>
          </p:txBody>
        </p:sp>
        <p:sp>
          <p:nvSpPr>
            <p:cNvPr id="41" name="Text 7">
              <a:extLst>
                <a:ext uri="{FF2B5EF4-FFF2-40B4-BE49-F238E27FC236}">
                  <a16:creationId xmlns:a16="http://schemas.microsoft.com/office/drawing/2014/main" id="{AFF88CA0-32F0-0AA5-ECAD-358301DE7841}"/>
                </a:ext>
              </a:extLst>
            </p:cNvPr>
            <p:cNvSpPr/>
            <p:nvPr/>
          </p:nvSpPr>
          <p:spPr>
            <a:xfrm>
              <a:off x="1036961" y="2578608"/>
              <a:ext cx="2286000" cy="256032"/>
            </a:xfrm>
            <a:prstGeom prst="rect">
              <a:avLst/>
            </a:prstGeom>
            <a:noFill/>
            <a:ln/>
          </p:spPr>
          <p:txBody>
            <a:bodyPr wrap="square" lIns="0" tIns="0" rIns="0" bIns="0" rtlCol="0" anchor="ctr">
              <a:noAutofit/>
            </a:bodyPr>
            <a:lstStyle/>
            <a:p>
              <a:pPr marL="285750" indent="-285750">
                <a:buFont typeface="Wingdings" pitchFamily="2" charset="2"/>
                <a:buChar char="Ø"/>
              </a:pPr>
              <a:r>
                <a:rPr lang="en-US">
                  <a:solidFill>
                    <a:srgbClr val="262626"/>
                  </a:solidFill>
                  <a:latin typeface="Aptos" pitchFamily="34" charset="0"/>
                  <a:ea typeface="Aptos" pitchFamily="34" charset="-122"/>
                  <a:cs typeface="Aptos" pitchFamily="34" charset="-120"/>
                </a:rPr>
                <a:t>stacking / pushing</a:t>
              </a:r>
              <a:endParaRPr lang="en-US" dirty="0"/>
            </a:p>
          </p:txBody>
        </p:sp>
        <p:sp>
          <p:nvSpPr>
            <p:cNvPr id="43" name="Text 9">
              <a:extLst>
                <a:ext uri="{FF2B5EF4-FFF2-40B4-BE49-F238E27FC236}">
                  <a16:creationId xmlns:a16="http://schemas.microsoft.com/office/drawing/2014/main" id="{C46C5308-65EB-EA96-F60B-A2701CA5DA65}"/>
                </a:ext>
              </a:extLst>
            </p:cNvPr>
            <p:cNvSpPr/>
            <p:nvPr/>
          </p:nvSpPr>
          <p:spPr>
            <a:xfrm>
              <a:off x="1036961" y="3822192"/>
              <a:ext cx="2477850" cy="256032"/>
            </a:xfrm>
            <a:prstGeom prst="rect">
              <a:avLst/>
            </a:prstGeom>
            <a:noFill/>
            <a:ln/>
          </p:spPr>
          <p:txBody>
            <a:bodyPr wrap="square" lIns="0" tIns="0" rIns="0" bIns="0" rtlCol="0" anchor="ctr">
              <a:noAutofit/>
            </a:bodyPr>
            <a:lstStyle/>
            <a:p>
              <a:pPr marL="285750" indent="-285750">
                <a:buFont typeface="Wingdings" pitchFamily="2" charset="2"/>
                <a:buChar char="Ø"/>
              </a:pPr>
              <a:r>
                <a:rPr lang="en-US"/>
                <a:t>orientation-agnostic</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14213D"/>
          </a:solidFill>
          <a:ln w="12700">
            <a:solidFill>
              <a:srgbClr val="14213D"/>
            </a:solidFill>
            <a:prstDash val="solid"/>
          </a:ln>
        </p:spPr>
        <p:txBody>
          <a:bodyPr/>
          <a:lstStyle/>
          <a:p>
            <a:endParaRPr lang="en-DE"/>
          </a:p>
        </p:txBody>
      </p:sp>
      <p:sp>
        <p:nvSpPr>
          <p:cNvPr id="3" name="Text 1"/>
          <p:cNvSpPr/>
          <p:nvPr/>
        </p:nvSpPr>
        <p:spPr>
          <a:xfrm>
            <a:off x="502920" y="393192"/>
            <a:ext cx="3474720" cy="228600"/>
          </a:xfrm>
          <a:prstGeom prst="rect">
            <a:avLst/>
          </a:prstGeom>
          <a:noFill/>
          <a:ln/>
        </p:spPr>
        <p:txBody>
          <a:bodyPr wrap="square" lIns="0" tIns="0" rIns="0" bIns="0" rtlCol="0" anchor="ctr"/>
          <a:lstStyle/>
          <a:p>
            <a:pPr marL="0" indent="0">
              <a:buNone/>
            </a:pPr>
            <a:r>
              <a:rPr lang="en-US" sz="850" b="1" dirty="0">
                <a:solidFill>
                  <a:srgbClr val="2F5D8C"/>
                </a:solidFill>
                <a:latin typeface="Aptos" pitchFamily="34" charset="0"/>
                <a:ea typeface="Aptos" pitchFamily="34" charset="-122"/>
                <a:cs typeface="Aptos" pitchFamily="34" charset="-120"/>
              </a:rPr>
              <a:t>TUMBLER DESIGN</a:t>
            </a:r>
            <a:endParaRPr lang="en-US" sz="850" dirty="0"/>
          </a:p>
        </p:txBody>
      </p:sp>
      <p:sp>
        <p:nvSpPr>
          <p:cNvPr id="4" name="Text 2"/>
          <p:cNvSpPr/>
          <p:nvPr/>
        </p:nvSpPr>
        <p:spPr>
          <a:xfrm>
            <a:off x="502920" y="658368"/>
            <a:ext cx="10789920" cy="457200"/>
          </a:xfrm>
          <a:prstGeom prst="rect">
            <a:avLst/>
          </a:prstGeom>
          <a:noFill/>
          <a:ln/>
        </p:spPr>
        <p:txBody>
          <a:bodyPr wrap="square" lIns="0" tIns="0" rIns="0" bIns="0" rtlCol="0" anchor="ctr"/>
          <a:lstStyle/>
          <a:p>
            <a:r>
              <a:rPr lang="en-US" sz="3200" b="1">
                <a:solidFill>
                  <a:srgbClr val="262626"/>
                </a:solidFill>
                <a:latin typeface="Aptos Display" pitchFamily="34" charset="0"/>
                <a:ea typeface="Aptos Display" pitchFamily="34" charset="-122"/>
                <a:cs typeface="Aptos Display" pitchFamily="34" charset="-120"/>
              </a:rPr>
              <a:t>Concept comparison</a:t>
            </a:r>
            <a:endParaRPr lang="en-US" sz="3200" dirty="0"/>
          </a:p>
        </p:txBody>
      </p:sp>
      <p:sp>
        <p:nvSpPr>
          <p:cNvPr id="5" name="Text 3"/>
          <p:cNvSpPr/>
          <p:nvPr/>
        </p:nvSpPr>
        <p:spPr>
          <a:xfrm>
            <a:off x="502920" y="6565392"/>
            <a:ext cx="6400800" cy="164592"/>
          </a:xfrm>
          <a:prstGeom prst="rect">
            <a:avLst/>
          </a:prstGeom>
          <a:noFill/>
          <a:ln/>
        </p:spPr>
        <p:txBody>
          <a:bodyPr wrap="square" lIns="0" tIns="0" rIns="0" bIns="0" rtlCol="0" anchor="ctr"/>
          <a:lstStyle/>
          <a:p>
            <a:pPr marL="0" indent="0">
              <a:buNone/>
            </a:pPr>
            <a:r>
              <a:rPr lang="en-US" sz="680" dirty="0">
                <a:solidFill>
                  <a:srgbClr val="7A8491"/>
                </a:solidFill>
                <a:latin typeface="Aptos" pitchFamily="34" charset="0"/>
                <a:ea typeface="Aptos" pitchFamily="34" charset="-122"/>
                <a:cs typeface="Aptos" pitchFamily="34" charset="-120"/>
              </a:rPr>
              <a:t>AMADEE-27 · Tumbler Design · Final Semester Meeting</a:t>
            </a:r>
            <a:endParaRPr lang="en-US" sz="680" dirty="0"/>
          </a:p>
        </p:txBody>
      </p:sp>
      <p:sp>
        <p:nvSpPr>
          <p:cNvPr id="6" name="Text 4"/>
          <p:cNvSpPr/>
          <p:nvPr/>
        </p:nvSpPr>
        <p:spPr>
          <a:xfrm>
            <a:off x="11475720" y="6565392"/>
            <a:ext cx="274320" cy="164592"/>
          </a:xfrm>
          <a:prstGeom prst="rect">
            <a:avLst/>
          </a:prstGeom>
          <a:noFill/>
          <a:ln/>
        </p:spPr>
        <p:txBody>
          <a:bodyPr wrap="square" lIns="0" tIns="0" rIns="0" bIns="0" rtlCol="0" anchor="ctr"/>
          <a:lstStyle/>
          <a:p>
            <a:pPr marL="0" indent="0" algn="r">
              <a:buNone/>
            </a:pPr>
            <a:r>
              <a:rPr lang="en-US" sz="680" dirty="0">
                <a:solidFill>
                  <a:srgbClr val="7A8491"/>
                </a:solidFill>
                <a:latin typeface="Aptos" pitchFamily="34" charset="0"/>
              </a:rPr>
              <a:t>8</a:t>
            </a:r>
            <a:endParaRPr lang="en-US" sz="680" dirty="0"/>
          </a:p>
        </p:txBody>
      </p:sp>
      <p:grpSp>
        <p:nvGrpSpPr>
          <p:cNvPr id="48" name="Group 47">
            <a:extLst>
              <a:ext uri="{FF2B5EF4-FFF2-40B4-BE49-F238E27FC236}">
                <a16:creationId xmlns:a16="http://schemas.microsoft.com/office/drawing/2014/main" id="{00C88BF9-59CC-80A4-5B81-2D9EE69491E6}"/>
              </a:ext>
            </a:extLst>
          </p:cNvPr>
          <p:cNvGrpSpPr/>
          <p:nvPr/>
        </p:nvGrpSpPr>
        <p:grpSpPr>
          <a:xfrm>
            <a:off x="457200" y="1965960"/>
            <a:ext cx="2651760" cy="3749040"/>
            <a:chOff x="384048" y="1261872"/>
            <a:chExt cx="2651760" cy="3749040"/>
          </a:xfrm>
        </p:grpSpPr>
        <p:sp>
          <p:nvSpPr>
            <p:cNvPr id="19" name="Shape 4">
              <a:extLst>
                <a:ext uri="{FF2B5EF4-FFF2-40B4-BE49-F238E27FC236}">
                  <a16:creationId xmlns:a16="http://schemas.microsoft.com/office/drawing/2014/main" id="{9074CCF0-0E9A-E80F-E341-F9D3A24A3E43}"/>
                </a:ext>
              </a:extLst>
            </p:cNvPr>
            <p:cNvSpPr/>
            <p:nvPr/>
          </p:nvSpPr>
          <p:spPr>
            <a:xfrm>
              <a:off x="384048" y="1261872"/>
              <a:ext cx="2651760" cy="3749040"/>
            </a:xfrm>
            <a:prstGeom prst="roundRect">
              <a:avLst>
                <a:gd name="adj" fmla="val 2759"/>
              </a:avLst>
            </a:prstGeom>
            <a:solidFill>
              <a:srgbClr val="FFFFFF"/>
            </a:solidFill>
            <a:ln w="12700">
              <a:solidFill>
                <a:srgbClr val="D8DEE8"/>
              </a:solidFill>
              <a:prstDash val="solid"/>
            </a:ln>
          </p:spPr>
          <p:txBody>
            <a:bodyPr/>
            <a:lstStyle/>
            <a:p>
              <a:endParaRPr lang="en-DE"/>
            </a:p>
          </p:txBody>
        </p:sp>
        <p:pic>
          <p:nvPicPr>
            <p:cNvPr id="29" name="Image 0" descr="/mnt/data/flex_crop.png">
              <a:extLst>
                <a:ext uri="{FF2B5EF4-FFF2-40B4-BE49-F238E27FC236}">
                  <a16:creationId xmlns:a16="http://schemas.microsoft.com/office/drawing/2014/main" id="{09473529-23B9-235A-4EF5-4985B4F389F0}"/>
                </a:ext>
              </a:extLst>
            </p:cNvPr>
            <p:cNvPicPr>
              <a:picLocks noChangeAspect="1"/>
            </p:cNvPicPr>
            <p:nvPr/>
          </p:nvPicPr>
          <p:blipFill>
            <a:blip r:embed="rId3"/>
            <a:srcRect t="11458" b="11458"/>
            <a:stretch/>
          </p:blipFill>
          <p:spPr>
            <a:xfrm>
              <a:off x="521208" y="1481328"/>
              <a:ext cx="2377440" cy="2029968"/>
            </a:xfrm>
            <a:prstGeom prst="rect">
              <a:avLst/>
            </a:prstGeom>
          </p:spPr>
        </p:pic>
        <p:sp>
          <p:nvSpPr>
            <p:cNvPr id="30" name="Text 5">
              <a:extLst>
                <a:ext uri="{FF2B5EF4-FFF2-40B4-BE49-F238E27FC236}">
                  <a16:creationId xmlns:a16="http://schemas.microsoft.com/office/drawing/2014/main" id="{1B8CF1BF-BA11-3E6B-450F-0E1726E173D4}"/>
                </a:ext>
              </a:extLst>
            </p:cNvPr>
            <p:cNvSpPr/>
            <p:nvPr/>
          </p:nvSpPr>
          <p:spPr>
            <a:xfrm>
              <a:off x="384048" y="3931920"/>
              <a:ext cx="2651760" cy="329184"/>
            </a:xfrm>
            <a:prstGeom prst="rect">
              <a:avLst/>
            </a:prstGeom>
            <a:noFill/>
            <a:ln/>
          </p:spPr>
          <p:txBody>
            <a:bodyPr wrap="square" lIns="0" tIns="0" rIns="0" bIns="0" rtlCol="0" anchor="ctr">
              <a:noAutofit/>
            </a:bodyPr>
            <a:lstStyle/>
            <a:p>
              <a:pPr marL="0" indent="0" algn="ctr">
                <a:buNone/>
              </a:pPr>
              <a:r>
                <a:rPr lang="en-US" sz="2400" b="1" dirty="0">
                  <a:solidFill>
                    <a:srgbClr val="8E44AD"/>
                  </a:solidFill>
                  <a:latin typeface="Aptos Display" pitchFamily="34" charset="0"/>
                  <a:ea typeface="Aptos Display" pitchFamily="34" charset="-122"/>
                  <a:cs typeface="Aptos Display" pitchFamily="34" charset="-120"/>
                </a:rPr>
                <a:t>Flex / folded</a:t>
              </a:r>
              <a:endParaRPr lang="en-US" sz="2400" dirty="0"/>
            </a:p>
          </p:txBody>
        </p:sp>
      </p:grpSp>
      <p:grpSp>
        <p:nvGrpSpPr>
          <p:cNvPr id="49" name="Group 48">
            <a:extLst>
              <a:ext uri="{FF2B5EF4-FFF2-40B4-BE49-F238E27FC236}">
                <a16:creationId xmlns:a16="http://schemas.microsoft.com/office/drawing/2014/main" id="{ED4B25E3-99D7-F097-015D-C93BAC5F57EA}"/>
              </a:ext>
            </a:extLst>
          </p:cNvPr>
          <p:cNvGrpSpPr/>
          <p:nvPr/>
        </p:nvGrpSpPr>
        <p:grpSpPr>
          <a:xfrm>
            <a:off x="3337560" y="1965960"/>
            <a:ext cx="2651760" cy="3749040"/>
            <a:chOff x="3264408" y="1261872"/>
            <a:chExt cx="2651760" cy="3749040"/>
          </a:xfrm>
        </p:grpSpPr>
        <p:sp>
          <p:nvSpPr>
            <p:cNvPr id="33" name="Shape 8">
              <a:extLst>
                <a:ext uri="{FF2B5EF4-FFF2-40B4-BE49-F238E27FC236}">
                  <a16:creationId xmlns:a16="http://schemas.microsoft.com/office/drawing/2014/main" id="{B4B5848E-88E6-7B5B-9933-CAFDE81A67B3}"/>
                </a:ext>
              </a:extLst>
            </p:cNvPr>
            <p:cNvSpPr/>
            <p:nvPr/>
          </p:nvSpPr>
          <p:spPr>
            <a:xfrm>
              <a:off x="3264408" y="1261872"/>
              <a:ext cx="2651760" cy="3749040"/>
            </a:xfrm>
            <a:prstGeom prst="roundRect">
              <a:avLst>
                <a:gd name="adj" fmla="val 2759"/>
              </a:avLst>
            </a:prstGeom>
            <a:solidFill>
              <a:srgbClr val="FFFFFF"/>
            </a:solidFill>
            <a:ln w="12700">
              <a:solidFill>
                <a:srgbClr val="D8DEE8"/>
              </a:solidFill>
              <a:prstDash val="solid"/>
            </a:ln>
          </p:spPr>
          <p:txBody>
            <a:bodyPr/>
            <a:lstStyle/>
            <a:p>
              <a:endParaRPr lang="en-DE"/>
            </a:p>
          </p:txBody>
        </p:sp>
        <p:pic>
          <p:nvPicPr>
            <p:cNvPr id="34" name="Image 1" descr="/mnt/data/odp_extract/Pictures/10000001000003AA000002F03C1AC7FC.png">
              <a:extLst>
                <a:ext uri="{FF2B5EF4-FFF2-40B4-BE49-F238E27FC236}">
                  <a16:creationId xmlns:a16="http://schemas.microsoft.com/office/drawing/2014/main" id="{76C70EE3-DA1B-13EE-36F7-2CCA84DAC177}"/>
                </a:ext>
              </a:extLst>
            </p:cNvPr>
            <p:cNvPicPr>
              <a:picLocks noChangeAspect="1"/>
            </p:cNvPicPr>
            <p:nvPr/>
          </p:nvPicPr>
          <p:blipFill>
            <a:blip r:embed="rId4"/>
            <a:srcRect l="3053" r="3053"/>
            <a:stretch/>
          </p:blipFill>
          <p:spPr>
            <a:xfrm>
              <a:off x="3401568" y="1481328"/>
              <a:ext cx="2377440" cy="2029968"/>
            </a:xfrm>
            <a:prstGeom prst="rect">
              <a:avLst/>
            </a:prstGeom>
          </p:spPr>
        </p:pic>
        <p:sp>
          <p:nvSpPr>
            <p:cNvPr id="35" name="Text 9">
              <a:extLst>
                <a:ext uri="{FF2B5EF4-FFF2-40B4-BE49-F238E27FC236}">
                  <a16:creationId xmlns:a16="http://schemas.microsoft.com/office/drawing/2014/main" id="{FF108318-B98A-C5B5-9473-5F0C63A96BE9}"/>
                </a:ext>
              </a:extLst>
            </p:cNvPr>
            <p:cNvSpPr/>
            <p:nvPr/>
          </p:nvSpPr>
          <p:spPr>
            <a:xfrm>
              <a:off x="3264408" y="3931918"/>
              <a:ext cx="2651760" cy="329185"/>
            </a:xfrm>
            <a:prstGeom prst="rect">
              <a:avLst/>
            </a:prstGeom>
            <a:noFill/>
            <a:ln/>
          </p:spPr>
          <p:txBody>
            <a:bodyPr wrap="square" lIns="0" tIns="0" rIns="0" bIns="0" rtlCol="0" anchor="ctr">
              <a:noAutofit/>
            </a:bodyPr>
            <a:lstStyle/>
            <a:p>
              <a:pPr marL="0" indent="0" algn="ctr">
                <a:buNone/>
              </a:pPr>
              <a:r>
                <a:rPr lang="en-US" sz="2400" b="1" dirty="0">
                  <a:solidFill>
                    <a:srgbClr val="E67E22"/>
                  </a:solidFill>
                  <a:latin typeface="Aptos Display" pitchFamily="34" charset="0"/>
                  <a:ea typeface="Aptos Display" pitchFamily="34" charset="-122"/>
                  <a:cs typeface="Aptos Display" pitchFamily="34" charset="-120"/>
                </a:rPr>
                <a:t>Oval</a:t>
              </a:r>
              <a:endParaRPr lang="en-US" sz="2400" dirty="0"/>
            </a:p>
          </p:txBody>
        </p:sp>
      </p:grpSp>
      <p:grpSp>
        <p:nvGrpSpPr>
          <p:cNvPr id="50" name="Group 49">
            <a:extLst>
              <a:ext uri="{FF2B5EF4-FFF2-40B4-BE49-F238E27FC236}">
                <a16:creationId xmlns:a16="http://schemas.microsoft.com/office/drawing/2014/main" id="{A64EF669-26F1-1711-46F3-C166026FA770}"/>
              </a:ext>
            </a:extLst>
          </p:cNvPr>
          <p:cNvGrpSpPr/>
          <p:nvPr/>
        </p:nvGrpSpPr>
        <p:grpSpPr>
          <a:xfrm>
            <a:off x="6217920" y="1965960"/>
            <a:ext cx="2651760" cy="3749040"/>
            <a:chOff x="6144768" y="1261872"/>
            <a:chExt cx="2651760" cy="3749040"/>
          </a:xfrm>
        </p:grpSpPr>
        <p:sp>
          <p:nvSpPr>
            <p:cNvPr id="38" name="Shape 12">
              <a:extLst>
                <a:ext uri="{FF2B5EF4-FFF2-40B4-BE49-F238E27FC236}">
                  <a16:creationId xmlns:a16="http://schemas.microsoft.com/office/drawing/2014/main" id="{908AF2DF-9029-6E4D-BB11-14569D50FC02}"/>
                </a:ext>
              </a:extLst>
            </p:cNvPr>
            <p:cNvSpPr/>
            <p:nvPr/>
          </p:nvSpPr>
          <p:spPr>
            <a:xfrm>
              <a:off x="6144768" y="1261872"/>
              <a:ext cx="2651760" cy="3749040"/>
            </a:xfrm>
            <a:prstGeom prst="roundRect">
              <a:avLst>
                <a:gd name="adj" fmla="val 2759"/>
              </a:avLst>
            </a:prstGeom>
            <a:solidFill>
              <a:srgbClr val="FFFFFF"/>
            </a:solidFill>
            <a:ln w="12700">
              <a:solidFill>
                <a:srgbClr val="D8DEE8"/>
              </a:solidFill>
              <a:prstDash val="solid"/>
            </a:ln>
          </p:spPr>
          <p:txBody>
            <a:bodyPr/>
            <a:lstStyle/>
            <a:p>
              <a:endParaRPr lang="en-DE"/>
            </a:p>
          </p:txBody>
        </p:sp>
        <p:pic>
          <p:nvPicPr>
            <p:cNvPr id="39" name="Image 2" descr="/mnt/data/odp_extract/Pictures/10000001000003AA000002F0F4E5AFE0.png">
              <a:extLst>
                <a:ext uri="{FF2B5EF4-FFF2-40B4-BE49-F238E27FC236}">
                  <a16:creationId xmlns:a16="http://schemas.microsoft.com/office/drawing/2014/main" id="{9CD931AC-106A-E13E-4A14-B391EEEF12D3}"/>
                </a:ext>
              </a:extLst>
            </p:cNvPr>
            <p:cNvPicPr>
              <a:picLocks noChangeAspect="1"/>
            </p:cNvPicPr>
            <p:nvPr/>
          </p:nvPicPr>
          <p:blipFill>
            <a:blip r:embed="rId5"/>
            <a:srcRect l="3053" r="3053"/>
            <a:stretch/>
          </p:blipFill>
          <p:spPr>
            <a:xfrm>
              <a:off x="6281928" y="1481328"/>
              <a:ext cx="2377440" cy="2029968"/>
            </a:xfrm>
            <a:prstGeom prst="rect">
              <a:avLst/>
            </a:prstGeom>
          </p:spPr>
        </p:pic>
        <p:sp>
          <p:nvSpPr>
            <p:cNvPr id="40" name="Text 13">
              <a:extLst>
                <a:ext uri="{FF2B5EF4-FFF2-40B4-BE49-F238E27FC236}">
                  <a16:creationId xmlns:a16="http://schemas.microsoft.com/office/drawing/2014/main" id="{603B705E-7D6F-6EE3-C439-C44E08EAF62F}"/>
                </a:ext>
              </a:extLst>
            </p:cNvPr>
            <p:cNvSpPr/>
            <p:nvPr/>
          </p:nvSpPr>
          <p:spPr>
            <a:xfrm>
              <a:off x="6144768" y="3931918"/>
              <a:ext cx="2651760" cy="329185"/>
            </a:xfrm>
            <a:prstGeom prst="rect">
              <a:avLst/>
            </a:prstGeom>
            <a:noFill/>
            <a:ln/>
          </p:spPr>
          <p:txBody>
            <a:bodyPr wrap="square" lIns="0" tIns="0" rIns="0" bIns="0" rtlCol="0" anchor="ctr">
              <a:noAutofit/>
            </a:bodyPr>
            <a:lstStyle/>
            <a:p>
              <a:pPr marL="0" indent="0" algn="ctr">
                <a:buNone/>
              </a:pPr>
              <a:r>
                <a:rPr lang="en-US" sz="2400" b="1" dirty="0">
                  <a:solidFill>
                    <a:srgbClr val="3465A4"/>
                  </a:solidFill>
                  <a:latin typeface="Aptos Display" pitchFamily="34" charset="0"/>
                  <a:ea typeface="Aptos Display" pitchFamily="34" charset="-122"/>
                  <a:cs typeface="Aptos Display" pitchFamily="34" charset="-120"/>
                </a:rPr>
                <a:t>Prism</a:t>
              </a:r>
              <a:endParaRPr lang="en-US" sz="2400" dirty="0"/>
            </a:p>
          </p:txBody>
        </p:sp>
      </p:grpSp>
      <p:grpSp>
        <p:nvGrpSpPr>
          <p:cNvPr id="51" name="Group 50">
            <a:extLst>
              <a:ext uri="{FF2B5EF4-FFF2-40B4-BE49-F238E27FC236}">
                <a16:creationId xmlns:a16="http://schemas.microsoft.com/office/drawing/2014/main" id="{03EB6591-FF93-D827-C2F3-B8A0E48CAB44}"/>
              </a:ext>
            </a:extLst>
          </p:cNvPr>
          <p:cNvGrpSpPr/>
          <p:nvPr/>
        </p:nvGrpSpPr>
        <p:grpSpPr>
          <a:xfrm>
            <a:off x="9098280" y="1965960"/>
            <a:ext cx="2651760" cy="3749040"/>
            <a:chOff x="9025128" y="1261872"/>
            <a:chExt cx="2651760" cy="3749040"/>
          </a:xfrm>
        </p:grpSpPr>
        <p:sp>
          <p:nvSpPr>
            <p:cNvPr id="43" name="Shape 16">
              <a:extLst>
                <a:ext uri="{FF2B5EF4-FFF2-40B4-BE49-F238E27FC236}">
                  <a16:creationId xmlns:a16="http://schemas.microsoft.com/office/drawing/2014/main" id="{19AEABB5-6B01-2E05-18D1-02B9864EE826}"/>
                </a:ext>
              </a:extLst>
            </p:cNvPr>
            <p:cNvSpPr/>
            <p:nvPr/>
          </p:nvSpPr>
          <p:spPr>
            <a:xfrm>
              <a:off x="9025128" y="1261872"/>
              <a:ext cx="2651760" cy="3749040"/>
            </a:xfrm>
            <a:prstGeom prst="roundRect">
              <a:avLst>
                <a:gd name="adj" fmla="val 2759"/>
              </a:avLst>
            </a:prstGeom>
            <a:solidFill>
              <a:srgbClr val="FFFFFF"/>
            </a:solidFill>
            <a:ln w="12700">
              <a:solidFill>
                <a:srgbClr val="D8DEE8"/>
              </a:solidFill>
              <a:prstDash val="solid"/>
            </a:ln>
          </p:spPr>
          <p:txBody>
            <a:bodyPr/>
            <a:lstStyle/>
            <a:p>
              <a:endParaRPr lang="en-DE"/>
            </a:p>
          </p:txBody>
        </p:sp>
        <p:pic>
          <p:nvPicPr>
            <p:cNvPr id="44" name="Image 3" descr="/mnt/data/spherical_crop2.png">
              <a:extLst>
                <a:ext uri="{FF2B5EF4-FFF2-40B4-BE49-F238E27FC236}">
                  <a16:creationId xmlns:a16="http://schemas.microsoft.com/office/drawing/2014/main" id="{4D41C1CD-9096-8CED-FFBD-58A4D97A187E}"/>
                </a:ext>
              </a:extLst>
            </p:cNvPr>
            <p:cNvPicPr>
              <a:picLocks noChangeAspect="1"/>
            </p:cNvPicPr>
            <p:nvPr/>
          </p:nvPicPr>
          <p:blipFill>
            <a:blip r:embed="rId6"/>
            <a:srcRect t="7492" b="7493"/>
            <a:stretch/>
          </p:blipFill>
          <p:spPr>
            <a:xfrm>
              <a:off x="9162288" y="1481328"/>
              <a:ext cx="2377440" cy="2029968"/>
            </a:xfrm>
            <a:prstGeom prst="rect">
              <a:avLst/>
            </a:prstGeom>
          </p:spPr>
        </p:pic>
        <p:sp>
          <p:nvSpPr>
            <p:cNvPr id="45" name="Text 17">
              <a:extLst>
                <a:ext uri="{FF2B5EF4-FFF2-40B4-BE49-F238E27FC236}">
                  <a16:creationId xmlns:a16="http://schemas.microsoft.com/office/drawing/2014/main" id="{62B8E2CB-0468-D3FE-BB23-D7E922D192CE}"/>
                </a:ext>
              </a:extLst>
            </p:cNvPr>
            <p:cNvSpPr/>
            <p:nvPr/>
          </p:nvSpPr>
          <p:spPr>
            <a:xfrm>
              <a:off x="9025128" y="3931917"/>
              <a:ext cx="2636520" cy="329185"/>
            </a:xfrm>
            <a:prstGeom prst="rect">
              <a:avLst/>
            </a:prstGeom>
            <a:noFill/>
            <a:ln/>
          </p:spPr>
          <p:txBody>
            <a:bodyPr wrap="square" lIns="0" tIns="0" rIns="0" bIns="0" rtlCol="0" anchor="ctr">
              <a:noAutofit/>
            </a:bodyPr>
            <a:lstStyle/>
            <a:p>
              <a:pPr marL="0" indent="0" algn="ctr">
                <a:buNone/>
              </a:pPr>
              <a:r>
                <a:rPr lang="en-US" sz="2400" b="1">
                  <a:solidFill>
                    <a:srgbClr val="16A085"/>
                  </a:solidFill>
                  <a:latin typeface="Aptos Display" pitchFamily="34" charset="0"/>
                  <a:ea typeface="Aptos Display" pitchFamily="34" charset="-122"/>
                  <a:cs typeface="Aptos Display" pitchFamily="34" charset="-120"/>
                </a:rPr>
                <a:t>Sphere</a:t>
              </a:r>
              <a:endParaRPr lang="en-US" sz="2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hape 0"/>
          <p:cNvSpPr/>
          <p:nvPr/>
        </p:nvSpPr>
        <p:spPr>
          <a:xfrm>
            <a:off x="0" y="0"/>
            <a:ext cx="12191040" cy="182160"/>
          </a:xfrm>
          <a:prstGeom prst="rect">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Text 1"/>
          <p:cNvSpPr/>
          <p:nvPr/>
        </p:nvSpPr>
        <p:spPr>
          <a:xfrm>
            <a:off x="502920" y="393120"/>
            <a:ext cx="34740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a:solidFill>
                  <a:srgbClr val="2F5D8C"/>
                </a:solidFill>
                <a:effectLst/>
                <a:uFillTx/>
                <a:latin typeface="Aptos"/>
                <a:ea typeface="Aptos"/>
              </a:rPr>
              <a:t>TUMBLER DESIGN</a:t>
            </a:r>
            <a:endParaRPr lang="en-US" sz="850" b="0" u="none" strike="noStrike">
              <a:solidFill>
                <a:srgbClr val="000000"/>
              </a:solidFill>
              <a:effectLst/>
              <a:uFillTx/>
              <a:latin typeface="Arial"/>
            </a:endParaRPr>
          </a:p>
        </p:txBody>
      </p:sp>
      <p:sp>
        <p:nvSpPr>
          <p:cNvPr id="179" name="Text 2"/>
          <p:cNvSpPr/>
          <p:nvPr/>
        </p:nvSpPr>
        <p:spPr>
          <a:xfrm>
            <a:off x="502920" y="658440"/>
            <a:ext cx="107892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4213D"/>
                </a:solidFill>
                <a:effectLst/>
                <a:uFillTx/>
                <a:latin typeface="Aptos Display"/>
                <a:ea typeface="Aptos Display"/>
              </a:rPr>
              <a:t>Final mechanical design</a:t>
            </a:r>
            <a:endParaRPr lang="en-US" sz="3200" b="0" u="none" strike="noStrike">
              <a:solidFill>
                <a:srgbClr val="000000"/>
              </a:solidFill>
              <a:effectLst/>
              <a:uFillTx/>
              <a:latin typeface="Arial"/>
            </a:endParaRPr>
          </a:p>
        </p:txBody>
      </p:sp>
      <p:sp>
        <p:nvSpPr>
          <p:cNvPr id="180" name="Text 3"/>
          <p:cNvSpPr/>
          <p:nvPr/>
        </p:nvSpPr>
        <p:spPr>
          <a:xfrm>
            <a:off x="502920" y="6565320"/>
            <a:ext cx="640008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80" b="0" u="none" strike="noStrike">
                <a:solidFill>
                  <a:srgbClr val="7A8491"/>
                </a:solidFill>
                <a:effectLst/>
                <a:uFillTx/>
                <a:latin typeface="Aptos"/>
                <a:ea typeface="Aptos"/>
              </a:rPr>
              <a:t>AMADEE-27 · Tumbler Design · Final Semester Meeting</a:t>
            </a:r>
            <a:endParaRPr lang="en-US" sz="680" b="0" u="none" strike="noStrike">
              <a:solidFill>
                <a:srgbClr val="000000"/>
              </a:solidFill>
              <a:effectLst/>
              <a:uFillTx/>
              <a:latin typeface="Arial"/>
            </a:endParaRPr>
          </a:p>
        </p:txBody>
      </p:sp>
      <p:sp>
        <p:nvSpPr>
          <p:cNvPr id="181" name="Text 4"/>
          <p:cNvSpPr/>
          <p:nvPr/>
        </p:nvSpPr>
        <p:spPr>
          <a:xfrm>
            <a:off x="11475720" y="6565320"/>
            <a:ext cx="273600" cy="16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680">
                <a:solidFill>
                  <a:srgbClr val="7A8491"/>
                </a:solidFill>
                <a:latin typeface="Aptos"/>
              </a:rPr>
              <a:t>9</a:t>
            </a:r>
            <a:endParaRPr lang="en-US" sz="680" b="0" u="none" strike="noStrike">
              <a:solidFill>
                <a:srgbClr val="000000"/>
              </a:solidFill>
              <a:effectLst/>
              <a:uFillTx/>
              <a:latin typeface="Arial"/>
            </a:endParaRPr>
          </a:p>
        </p:txBody>
      </p:sp>
      <p:sp>
        <p:nvSpPr>
          <p:cNvPr id="182" name="Text 5"/>
          <p:cNvSpPr/>
          <p:nvPr/>
        </p:nvSpPr>
        <p:spPr>
          <a:xfrm>
            <a:off x="594360" y="1261800"/>
            <a:ext cx="106977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83" name="Text 7"/>
          <p:cNvSpPr/>
          <p:nvPr/>
        </p:nvSpPr>
        <p:spPr>
          <a:xfrm>
            <a:off x="850320" y="3214080"/>
            <a:ext cx="4928040" cy="2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84" name="Text 8"/>
          <p:cNvSpPr/>
          <p:nvPr/>
        </p:nvSpPr>
        <p:spPr>
          <a:xfrm>
            <a:off x="850320" y="3506760"/>
            <a:ext cx="4928040" cy="18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85" name="Text 12"/>
          <p:cNvSpPr/>
          <p:nvPr/>
        </p:nvSpPr>
        <p:spPr>
          <a:xfrm>
            <a:off x="868680" y="5257800"/>
            <a:ext cx="10240560" cy="77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endParaRPr lang="en-US" sz="1800" b="0" u="none" strike="noStrike">
              <a:solidFill>
                <a:srgbClr val="000000"/>
              </a:solidFill>
              <a:effectLst/>
              <a:uFillTx/>
              <a:latin typeface="Arial"/>
            </a:endParaRPr>
          </a:p>
        </p:txBody>
      </p:sp>
      <p:sp>
        <p:nvSpPr>
          <p:cNvPr id="186" name="Shape 2"/>
          <p:cNvSpPr/>
          <p:nvPr/>
        </p:nvSpPr>
        <p:spPr>
          <a:xfrm>
            <a:off x="685800" y="1828800"/>
            <a:ext cx="4114440" cy="2743200"/>
          </a:xfrm>
          <a:prstGeom prst="roundRect">
            <a:avLst>
              <a:gd name="adj" fmla="val 4000"/>
            </a:avLst>
          </a:prstGeom>
          <a:solidFill>
            <a:srgbClr val="14213D"/>
          </a:solidFill>
          <a:ln w="12700">
            <a:solidFill>
              <a:srgbClr val="14213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7" name="Rectangle 186"/>
          <p:cNvSpPr/>
          <p:nvPr/>
        </p:nvSpPr>
        <p:spPr>
          <a:xfrm>
            <a:off x="868680" y="2057400"/>
            <a:ext cx="3657240" cy="23068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400" b="1" u="none" strike="noStrike">
                <a:solidFill>
                  <a:srgbClr val="FFFFFF"/>
                </a:solidFill>
                <a:effectLst/>
                <a:uFillTx/>
                <a:latin typeface="Arial"/>
              </a:rPr>
              <a:t>Requirements:</a:t>
            </a:r>
            <a:endParaRPr lang="en-US" sz="2400" b="0" u="none" strike="noStrike">
              <a:solidFill>
                <a:srgbClr val="000000"/>
              </a:solidFill>
              <a:effectLst/>
              <a:uFillTx/>
              <a:latin typeface="Arial"/>
            </a:endParaRPr>
          </a:p>
          <a:p>
            <a:pPr marL="216000" indent="-216000">
              <a:lnSpc>
                <a:spcPct val="100000"/>
              </a:lnSpc>
              <a:buClr>
                <a:srgbClr val="FFFFFF"/>
              </a:buClr>
              <a:buSzPct val="45000"/>
              <a:buFont typeface="Wingdings" charset="2"/>
              <a:buChar char=""/>
            </a:pPr>
            <a:r>
              <a:rPr lang="en-US" sz="2000" b="0" u="none" strike="noStrike">
                <a:solidFill>
                  <a:srgbClr val="FFFFFF"/>
                </a:solidFill>
                <a:effectLst/>
                <a:uFillTx/>
                <a:latin typeface="Arial"/>
              </a:rPr>
              <a:t>Compatible with the designs of the Tumbler release Unit..</a:t>
            </a:r>
            <a:endParaRPr lang="en-US" sz="2000" b="0" u="none" strike="noStrike">
              <a:solidFill>
                <a:srgbClr val="000000"/>
              </a:solidFill>
              <a:effectLst/>
              <a:uFillTx/>
              <a:latin typeface="Arial"/>
            </a:endParaRPr>
          </a:p>
          <a:p>
            <a:pPr marL="216000" indent="-216000">
              <a:lnSpc>
                <a:spcPct val="100000"/>
              </a:lnSpc>
              <a:buClr>
                <a:srgbClr val="FFFFFF"/>
              </a:buClr>
              <a:buSzPct val="45000"/>
              <a:buFont typeface="Wingdings" charset="2"/>
              <a:buChar char=""/>
            </a:pPr>
            <a:r>
              <a:rPr lang="en-US" sz="2000" b="0" u="none" strike="noStrike">
                <a:solidFill>
                  <a:srgbClr val="FFFFFF"/>
                </a:solidFill>
                <a:effectLst/>
                <a:uFillTx/>
                <a:latin typeface="Arial"/>
              </a:rPr>
              <a:t>Ease of assembly in large numbers.</a:t>
            </a:r>
            <a:endParaRPr lang="en-US" sz="2000" b="0" u="none" strike="noStrike">
              <a:solidFill>
                <a:srgbClr val="000000"/>
              </a:solidFill>
              <a:effectLst/>
              <a:uFillTx/>
              <a:latin typeface="Arial"/>
            </a:endParaRPr>
          </a:p>
          <a:p>
            <a:pPr marL="216000" indent="-216000">
              <a:lnSpc>
                <a:spcPct val="100000"/>
              </a:lnSpc>
              <a:buClr>
                <a:srgbClr val="FFFFFF"/>
              </a:buClr>
              <a:buSzPct val="45000"/>
              <a:buFont typeface="Wingdings" charset="2"/>
              <a:buChar char=""/>
            </a:pPr>
            <a:r>
              <a:rPr lang="en-US" sz="2000" b="0" u="none" strike="noStrike">
                <a:solidFill>
                  <a:srgbClr val="FFFFFF"/>
                </a:solidFill>
                <a:effectLst/>
                <a:uFillTx/>
                <a:latin typeface="Arial"/>
              </a:rPr>
              <a:t>Capable of good message reception and transmission.</a:t>
            </a:r>
            <a:endParaRPr lang="en-US" sz="2000" b="0" u="none" strike="noStrike">
              <a:solidFill>
                <a:srgbClr val="000000"/>
              </a:solidFill>
              <a:effectLst/>
              <a:uFillTx/>
              <a:latin typeface="Arial"/>
            </a:endParaRPr>
          </a:p>
        </p:txBody>
      </p:sp>
      <p:pic>
        <p:nvPicPr>
          <p:cNvPr id="188" name="Picture 187"/>
          <p:cNvPicPr/>
          <p:nvPr/>
        </p:nvPicPr>
        <p:blipFill>
          <a:blip r:embed="rId3"/>
          <a:stretch/>
        </p:blipFill>
        <p:spPr>
          <a:xfrm>
            <a:off x="6720480" y="1371600"/>
            <a:ext cx="4571640" cy="3919680"/>
          </a:xfrm>
          <a:prstGeom prst="rect">
            <a:avLst/>
          </a:prstGeom>
          <a:noFill/>
          <a:ln w="0">
            <a:noFill/>
          </a:ln>
        </p:spPr>
      </p:pic>
      <p:sp>
        <p:nvSpPr>
          <p:cNvPr id="189" name="Right Arrow 188"/>
          <p:cNvSpPr/>
          <p:nvPr/>
        </p:nvSpPr>
        <p:spPr>
          <a:xfrm>
            <a:off x="5029200" y="2514600"/>
            <a:ext cx="1371240" cy="1120320"/>
          </a:xfrm>
          <a:prstGeom prst="rightArrow">
            <a:avLst>
              <a:gd name="adj1" fmla="val 50000"/>
              <a:gd name="adj2" fmla="val 30597"/>
            </a:avLst>
          </a:prstGeom>
          <a:solidFill>
            <a:srgbClr val="729FCF"/>
          </a:solidFill>
          <a:ln w="0">
            <a:solidFill>
              <a:srgbClr val="355269"/>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14213D"/>
          </a:solidFill>
          <a:ln w="12700">
            <a:solidFill>
              <a:srgbClr val="14213D"/>
            </a:solidFill>
            <a:prstDash val="solid"/>
          </a:ln>
        </p:spPr>
        <p:txBody>
          <a:bodyPr/>
          <a:lstStyle/>
          <a:p>
            <a:endParaRPr lang="en-DE"/>
          </a:p>
        </p:txBody>
      </p:sp>
      <p:sp>
        <p:nvSpPr>
          <p:cNvPr id="3" name="Text 1"/>
          <p:cNvSpPr/>
          <p:nvPr/>
        </p:nvSpPr>
        <p:spPr>
          <a:xfrm>
            <a:off x="502920" y="393192"/>
            <a:ext cx="3474720" cy="228600"/>
          </a:xfrm>
          <a:prstGeom prst="rect">
            <a:avLst/>
          </a:prstGeom>
          <a:noFill/>
          <a:ln/>
        </p:spPr>
        <p:txBody>
          <a:bodyPr wrap="square" lIns="0" tIns="0" rIns="0" bIns="0" rtlCol="0" anchor="ctr"/>
          <a:lstStyle/>
          <a:p>
            <a:pPr marL="0" indent="0">
              <a:buNone/>
            </a:pPr>
            <a:r>
              <a:rPr lang="en-US" sz="850" b="1" dirty="0">
                <a:solidFill>
                  <a:srgbClr val="2F5D8C"/>
                </a:solidFill>
                <a:latin typeface="Aptos" pitchFamily="34" charset="0"/>
                <a:ea typeface="Aptos" pitchFamily="34" charset="-122"/>
                <a:cs typeface="Aptos" pitchFamily="34" charset="-120"/>
              </a:rPr>
              <a:t>TUMBLER DESIGN</a:t>
            </a:r>
            <a:endParaRPr lang="en-US" sz="850" dirty="0"/>
          </a:p>
        </p:txBody>
      </p:sp>
      <p:sp>
        <p:nvSpPr>
          <p:cNvPr id="4" name="Text 2"/>
          <p:cNvSpPr/>
          <p:nvPr/>
        </p:nvSpPr>
        <p:spPr>
          <a:xfrm>
            <a:off x="502920" y="658368"/>
            <a:ext cx="10789920" cy="457200"/>
          </a:xfrm>
          <a:prstGeom prst="rect">
            <a:avLst/>
          </a:prstGeom>
          <a:noFill/>
          <a:ln/>
        </p:spPr>
        <p:txBody>
          <a:bodyPr wrap="square" lIns="0" tIns="0" rIns="0" bIns="0" rtlCol="0" anchor="ctr"/>
          <a:lstStyle/>
          <a:p>
            <a:r>
              <a:rPr lang="en-US" sz="3200" b="1">
                <a:solidFill>
                  <a:srgbClr val="262626"/>
                </a:solidFill>
                <a:latin typeface="Aptos Display" pitchFamily="34" charset="0"/>
                <a:ea typeface="Aptos Display" pitchFamily="34" charset="-122"/>
                <a:cs typeface="Aptos Display" pitchFamily="34" charset="-120"/>
              </a:rPr>
              <a:t>Status and next steps</a:t>
            </a:r>
            <a:endParaRPr lang="en-US" sz="3200" dirty="0"/>
          </a:p>
        </p:txBody>
      </p:sp>
      <p:sp>
        <p:nvSpPr>
          <p:cNvPr id="5" name="Text 3"/>
          <p:cNvSpPr/>
          <p:nvPr/>
        </p:nvSpPr>
        <p:spPr>
          <a:xfrm>
            <a:off x="502920" y="6565392"/>
            <a:ext cx="6400800" cy="164592"/>
          </a:xfrm>
          <a:prstGeom prst="rect">
            <a:avLst/>
          </a:prstGeom>
          <a:noFill/>
          <a:ln/>
        </p:spPr>
        <p:txBody>
          <a:bodyPr wrap="square" lIns="0" tIns="0" rIns="0" bIns="0" rtlCol="0" anchor="ctr"/>
          <a:lstStyle/>
          <a:p>
            <a:pPr marL="0" indent="0">
              <a:buNone/>
            </a:pPr>
            <a:r>
              <a:rPr lang="en-US" sz="680" dirty="0">
                <a:solidFill>
                  <a:srgbClr val="7A8491"/>
                </a:solidFill>
                <a:latin typeface="Aptos" pitchFamily="34" charset="0"/>
                <a:ea typeface="Aptos" pitchFamily="34" charset="-122"/>
                <a:cs typeface="Aptos" pitchFamily="34" charset="-120"/>
              </a:rPr>
              <a:t>AMADEE-27 · Tumbler Design · Final Semester Meeting</a:t>
            </a:r>
            <a:endParaRPr lang="en-US" sz="680" dirty="0"/>
          </a:p>
        </p:txBody>
      </p:sp>
      <p:sp>
        <p:nvSpPr>
          <p:cNvPr id="6" name="Text 4"/>
          <p:cNvSpPr/>
          <p:nvPr/>
        </p:nvSpPr>
        <p:spPr>
          <a:xfrm>
            <a:off x="11475720" y="6565392"/>
            <a:ext cx="274320" cy="164592"/>
          </a:xfrm>
          <a:prstGeom prst="rect">
            <a:avLst/>
          </a:prstGeom>
          <a:noFill/>
          <a:ln/>
        </p:spPr>
        <p:txBody>
          <a:bodyPr wrap="square" lIns="0" tIns="0" rIns="0" bIns="0" rtlCol="0" anchor="ctr"/>
          <a:lstStyle/>
          <a:p>
            <a:pPr marL="0" indent="0" algn="r">
              <a:buNone/>
            </a:pPr>
            <a:r>
              <a:rPr lang="en-US" sz="680">
                <a:solidFill>
                  <a:srgbClr val="7A8491"/>
                </a:solidFill>
                <a:latin typeface="Aptos" pitchFamily="34" charset="0"/>
                <a:ea typeface="Aptos" pitchFamily="34" charset="-122"/>
                <a:cs typeface="Aptos" pitchFamily="34" charset="-120"/>
              </a:rPr>
              <a:t>10</a:t>
            </a:r>
            <a:endParaRPr lang="en-US" sz="680" dirty="0"/>
          </a:p>
        </p:txBody>
      </p:sp>
      <p:grpSp>
        <p:nvGrpSpPr>
          <p:cNvPr id="56" name="Group 55">
            <a:extLst>
              <a:ext uri="{FF2B5EF4-FFF2-40B4-BE49-F238E27FC236}">
                <a16:creationId xmlns:a16="http://schemas.microsoft.com/office/drawing/2014/main" id="{A065AE8D-386C-0E4D-01D0-755DC894EBD8}"/>
              </a:ext>
            </a:extLst>
          </p:cNvPr>
          <p:cNvGrpSpPr/>
          <p:nvPr/>
        </p:nvGrpSpPr>
        <p:grpSpPr>
          <a:xfrm>
            <a:off x="659892" y="1828800"/>
            <a:ext cx="3337560" cy="4023360"/>
            <a:chOff x="659892" y="1828800"/>
            <a:chExt cx="3337560" cy="4023360"/>
          </a:xfrm>
        </p:grpSpPr>
        <p:sp>
          <p:nvSpPr>
            <p:cNvPr id="22" name="Shape 4">
              <a:extLst>
                <a:ext uri="{FF2B5EF4-FFF2-40B4-BE49-F238E27FC236}">
                  <a16:creationId xmlns:a16="http://schemas.microsoft.com/office/drawing/2014/main" id="{79E6F6AF-0A87-9A52-CC30-28FD53973006}"/>
                </a:ext>
              </a:extLst>
            </p:cNvPr>
            <p:cNvSpPr/>
            <p:nvPr/>
          </p:nvSpPr>
          <p:spPr>
            <a:xfrm>
              <a:off x="659892" y="1828800"/>
              <a:ext cx="3337560" cy="4023360"/>
            </a:xfrm>
            <a:prstGeom prst="roundRect">
              <a:avLst>
                <a:gd name="adj" fmla="val 2192"/>
              </a:avLst>
            </a:prstGeom>
            <a:solidFill>
              <a:srgbClr val="FFFFFF"/>
            </a:solidFill>
            <a:ln w="12700">
              <a:solidFill>
                <a:srgbClr val="D8DEE8"/>
              </a:solidFill>
              <a:prstDash val="solid"/>
            </a:ln>
          </p:spPr>
          <p:txBody>
            <a:bodyPr/>
            <a:lstStyle/>
            <a:p>
              <a:endParaRPr lang="en-DE"/>
            </a:p>
          </p:txBody>
        </p:sp>
        <p:sp>
          <p:nvSpPr>
            <p:cNvPr id="23" name="Shape 5">
              <a:extLst>
                <a:ext uri="{FF2B5EF4-FFF2-40B4-BE49-F238E27FC236}">
                  <a16:creationId xmlns:a16="http://schemas.microsoft.com/office/drawing/2014/main" id="{2627E75C-94E0-85CD-BCC6-D4F603DD0FD8}"/>
                </a:ext>
              </a:extLst>
            </p:cNvPr>
            <p:cNvSpPr/>
            <p:nvPr/>
          </p:nvSpPr>
          <p:spPr>
            <a:xfrm>
              <a:off x="659892" y="1828800"/>
              <a:ext cx="64008" cy="4023360"/>
            </a:xfrm>
            <a:prstGeom prst="rect">
              <a:avLst/>
            </a:prstGeom>
            <a:solidFill>
              <a:srgbClr val="27AE60"/>
            </a:solidFill>
            <a:ln w="12700">
              <a:solidFill>
                <a:srgbClr val="27AE60"/>
              </a:solidFill>
              <a:prstDash val="solid"/>
            </a:ln>
          </p:spPr>
          <p:txBody>
            <a:bodyPr/>
            <a:lstStyle/>
            <a:p>
              <a:endParaRPr lang="en-DE"/>
            </a:p>
          </p:txBody>
        </p:sp>
        <p:sp>
          <p:nvSpPr>
            <p:cNvPr id="24" name="Text 6">
              <a:extLst>
                <a:ext uri="{FF2B5EF4-FFF2-40B4-BE49-F238E27FC236}">
                  <a16:creationId xmlns:a16="http://schemas.microsoft.com/office/drawing/2014/main" id="{4EA1592A-63AF-2301-3F79-36D128E1217A}"/>
                </a:ext>
              </a:extLst>
            </p:cNvPr>
            <p:cNvSpPr/>
            <p:nvPr/>
          </p:nvSpPr>
          <p:spPr>
            <a:xfrm>
              <a:off x="723900" y="2084832"/>
              <a:ext cx="3253740" cy="228600"/>
            </a:xfrm>
            <a:prstGeom prst="rect">
              <a:avLst/>
            </a:prstGeom>
            <a:noFill/>
            <a:ln/>
          </p:spPr>
          <p:txBody>
            <a:bodyPr wrap="square" lIns="0" tIns="0" rIns="0" bIns="0" rtlCol="0" anchor="ctr">
              <a:noAutofit/>
            </a:bodyPr>
            <a:lstStyle/>
            <a:p>
              <a:pPr marL="0" indent="0" algn="ctr">
                <a:buNone/>
              </a:pPr>
              <a:r>
                <a:rPr lang="en-US" sz="2400" b="1" dirty="0">
                  <a:solidFill>
                    <a:srgbClr val="262626"/>
                  </a:solidFill>
                  <a:latin typeface="Aptos Display" pitchFamily="34" charset="0"/>
                  <a:ea typeface="Aptos Display" pitchFamily="34" charset="-122"/>
                  <a:cs typeface="Aptos Display" pitchFamily="34" charset="-120"/>
                </a:rPr>
                <a:t>completed / ready</a:t>
              </a:r>
              <a:endParaRPr lang="en-US" sz="2400" dirty="0"/>
            </a:p>
          </p:txBody>
        </p:sp>
        <p:sp>
          <p:nvSpPr>
            <p:cNvPr id="26" name="Text 8">
              <a:extLst>
                <a:ext uri="{FF2B5EF4-FFF2-40B4-BE49-F238E27FC236}">
                  <a16:creationId xmlns:a16="http://schemas.microsoft.com/office/drawing/2014/main" id="{A3B317DD-0ACF-5A22-88A0-E8EE93B1272F}"/>
                </a:ext>
              </a:extLst>
            </p:cNvPr>
            <p:cNvSpPr/>
            <p:nvPr/>
          </p:nvSpPr>
          <p:spPr>
            <a:xfrm>
              <a:off x="1025652" y="2958084"/>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Tumbler geometry final</a:t>
              </a:r>
              <a:endParaRPr lang="en-US" dirty="0"/>
            </a:p>
          </p:txBody>
        </p:sp>
        <p:sp>
          <p:nvSpPr>
            <p:cNvPr id="28" name="Text 10">
              <a:extLst>
                <a:ext uri="{FF2B5EF4-FFF2-40B4-BE49-F238E27FC236}">
                  <a16:creationId xmlns:a16="http://schemas.microsoft.com/office/drawing/2014/main" id="{09824AC5-22C3-0035-C138-11ED3FC00A06}"/>
                </a:ext>
              </a:extLst>
            </p:cNvPr>
            <p:cNvSpPr/>
            <p:nvPr/>
          </p:nvSpPr>
          <p:spPr>
            <a:xfrm>
              <a:off x="1025652" y="3616452"/>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PCB revision ordered</a:t>
              </a:r>
              <a:endParaRPr lang="en-US" dirty="0"/>
            </a:p>
          </p:txBody>
        </p:sp>
        <p:sp>
          <p:nvSpPr>
            <p:cNvPr id="30" name="Text 12">
              <a:extLst>
                <a:ext uri="{FF2B5EF4-FFF2-40B4-BE49-F238E27FC236}">
                  <a16:creationId xmlns:a16="http://schemas.microsoft.com/office/drawing/2014/main" id="{4E3D9AC9-9FB7-8207-F89C-05C49BF90A6E}"/>
                </a:ext>
              </a:extLst>
            </p:cNvPr>
            <p:cNvSpPr/>
            <p:nvPr/>
          </p:nvSpPr>
          <p:spPr>
            <a:xfrm>
              <a:off x="1025652" y="4274820"/>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a:solidFill>
                    <a:srgbClr val="262626"/>
                  </a:solidFill>
                  <a:latin typeface="Aptos" pitchFamily="34" charset="0"/>
                  <a:ea typeface="Aptos" pitchFamily="34" charset="-122"/>
                  <a:cs typeface="Aptos" pitchFamily="34" charset="-120"/>
                </a:rPr>
                <a:t>mass-print ready</a:t>
              </a:r>
              <a:endParaRPr lang="en-US" dirty="0"/>
            </a:p>
          </p:txBody>
        </p:sp>
      </p:grpSp>
      <p:grpSp>
        <p:nvGrpSpPr>
          <p:cNvPr id="55" name="Group 54">
            <a:extLst>
              <a:ext uri="{FF2B5EF4-FFF2-40B4-BE49-F238E27FC236}">
                <a16:creationId xmlns:a16="http://schemas.microsoft.com/office/drawing/2014/main" id="{2B8FD037-202C-CD83-EE2B-7D51D90A2CD5}"/>
              </a:ext>
            </a:extLst>
          </p:cNvPr>
          <p:cNvGrpSpPr/>
          <p:nvPr/>
        </p:nvGrpSpPr>
        <p:grpSpPr>
          <a:xfrm>
            <a:off x="4427220" y="1828800"/>
            <a:ext cx="3337560" cy="4023360"/>
            <a:chOff x="4427220" y="1828800"/>
            <a:chExt cx="3337560" cy="4023360"/>
          </a:xfrm>
        </p:grpSpPr>
        <p:sp>
          <p:nvSpPr>
            <p:cNvPr id="33" name="Shape 15">
              <a:extLst>
                <a:ext uri="{FF2B5EF4-FFF2-40B4-BE49-F238E27FC236}">
                  <a16:creationId xmlns:a16="http://schemas.microsoft.com/office/drawing/2014/main" id="{51500728-F902-E3C0-A204-A8B18767B24E}"/>
                </a:ext>
              </a:extLst>
            </p:cNvPr>
            <p:cNvSpPr/>
            <p:nvPr/>
          </p:nvSpPr>
          <p:spPr>
            <a:xfrm>
              <a:off x="4427220" y="1828800"/>
              <a:ext cx="3337560" cy="4023360"/>
            </a:xfrm>
            <a:prstGeom prst="roundRect">
              <a:avLst>
                <a:gd name="adj" fmla="val 2192"/>
              </a:avLst>
            </a:prstGeom>
            <a:solidFill>
              <a:srgbClr val="FFFFFF"/>
            </a:solidFill>
            <a:ln w="12700">
              <a:solidFill>
                <a:srgbClr val="D8DEE8"/>
              </a:solidFill>
              <a:prstDash val="solid"/>
            </a:ln>
          </p:spPr>
          <p:txBody>
            <a:bodyPr/>
            <a:lstStyle/>
            <a:p>
              <a:endParaRPr lang="en-DE"/>
            </a:p>
          </p:txBody>
        </p:sp>
        <p:sp>
          <p:nvSpPr>
            <p:cNvPr id="34" name="Shape 16">
              <a:extLst>
                <a:ext uri="{FF2B5EF4-FFF2-40B4-BE49-F238E27FC236}">
                  <a16:creationId xmlns:a16="http://schemas.microsoft.com/office/drawing/2014/main" id="{46EF9F01-1431-7064-753D-0F5785D8531B}"/>
                </a:ext>
              </a:extLst>
            </p:cNvPr>
            <p:cNvSpPr/>
            <p:nvPr/>
          </p:nvSpPr>
          <p:spPr>
            <a:xfrm>
              <a:off x="4427220" y="1828800"/>
              <a:ext cx="64008" cy="4023360"/>
            </a:xfrm>
            <a:prstGeom prst="rect">
              <a:avLst/>
            </a:prstGeom>
            <a:solidFill>
              <a:srgbClr val="E67E22"/>
            </a:solidFill>
            <a:ln w="12700">
              <a:solidFill>
                <a:srgbClr val="E67E22"/>
              </a:solidFill>
              <a:prstDash val="solid"/>
            </a:ln>
          </p:spPr>
          <p:txBody>
            <a:bodyPr/>
            <a:lstStyle/>
            <a:p>
              <a:endParaRPr lang="en-DE"/>
            </a:p>
          </p:txBody>
        </p:sp>
        <p:sp>
          <p:nvSpPr>
            <p:cNvPr id="35" name="Text 17">
              <a:extLst>
                <a:ext uri="{FF2B5EF4-FFF2-40B4-BE49-F238E27FC236}">
                  <a16:creationId xmlns:a16="http://schemas.microsoft.com/office/drawing/2014/main" id="{035E0971-23AB-29CE-0E57-854A8C6B10F0}"/>
                </a:ext>
              </a:extLst>
            </p:cNvPr>
            <p:cNvSpPr/>
            <p:nvPr/>
          </p:nvSpPr>
          <p:spPr>
            <a:xfrm>
              <a:off x="4491228" y="2084832"/>
              <a:ext cx="3273552" cy="228600"/>
            </a:xfrm>
            <a:prstGeom prst="rect">
              <a:avLst/>
            </a:prstGeom>
            <a:noFill/>
            <a:ln/>
          </p:spPr>
          <p:txBody>
            <a:bodyPr wrap="square" lIns="0" tIns="0" rIns="0" bIns="0" rtlCol="0" anchor="ctr">
              <a:noAutofit/>
            </a:bodyPr>
            <a:lstStyle/>
            <a:p>
              <a:pPr marL="0" indent="0" algn="ctr">
                <a:buNone/>
              </a:pPr>
              <a:r>
                <a:rPr lang="en-US" sz="2400" b="1" dirty="0">
                  <a:solidFill>
                    <a:srgbClr val="262626"/>
                  </a:solidFill>
                  <a:latin typeface="Aptos Display" pitchFamily="34" charset="0"/>
                  <a:ea typeface="Aptos Display" pitchFamily="34" charset="-122"/>
                  <a:cs typeface="Aptos Display" pitchFamily="34" charset="-120"/>
                </a:rPr>
                <a:t>before next semester</a:t>
              </a:r>
              <a:endParaRPr lang="en-US" sz="2400" dirty="0"/>
            </a:p>
          </p:txBody>
        </p:sp>
        <p:sp>
          <p:nvSpPr>
            <p:cNvPr id="37" name="Text 19">
              <a:extLst>
                <a:ext uri="{FF2B5EF4-FFF2-40B4-BE49-F238E27FC236}">
                  <a16:creationId xmlns:a16="http://schemas.microsoft.com/office/drawing/2014/main" id="{6E64473D-5B90-5E12-EE80-329E69AA67EF}"/>
                </a:ext>
              </a:extLst>
            </p:cNvPr>
            <p:cNvSpPr/>
            <p:nvPr/>
          </p:nvSpPr>
          <p:spPr>
            <a:xfrm>
              <a:off x="4792980" y="2958084"/>
              <a:ext cx="2971800" cy="274320"/>
            </a:xfrm>
            <a:prstGeom prst="rect">
              <a:avLst/>
            </a:prstGeom>
            <a:noFill/>
            <a:ln/>
          </p:spPr>
          <p:txBody>
            <a:bodyPr wrap="square" lIns="0" tIns="0" rIns="0" bIns="0" rtlCol="0" anchor="ctr">
              <a:no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mass print: requested quantity</a:t>
              </a:r>
              <a:endParaRPr lang="en-US" dirty="0"/>
            </a:p>
          </p:txBody>
        </p:sp>
        <p:sp>
          <p:nvSpPr>
            <p:cNvPr id="39" name="Text 21">
              <a:extLst>
                <a:ext uri="{FF2B5EF4-FFF2-40B4-BE49-F238E27FC236}">
                  <a16:creationId xmlns:a16="http://schemas.microsoft.com/office/drawing/2014/main" id="{AC48A957-2C5E-ED5D-4C57-BFA40251CF7B}"/>
                </a:ext>
              </a:extLst>
            </p:cNvPr>
            <p:cNvSpPr/>
            <p:nvPr/>
          </p:nvSpPr>
          <p:spPr>
            <a:xfrm>
              <a:off x="4792980" y="3616452"/>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order missing parts</a:t>
              </a:r>
              <a:endParaRPr lang="en-US" dirty="0"/>
            </a:p>
          </p:txBody>
        </p:sp>
        <p:sp>
          <p:nvSpPr>
            <p:cNvPr id="41" name="Text 23">
              <a:extLst>
                <a:ext uri="{FF2B5EF4-FFF2-40B4-BE49-F238E27FC236}">
                  <a16:creationId xmlns:a16="http://schemas.microsoft.com/office/drawing/2014/main" id="{27A40EC6-8872-340C-352C-E35F0EA736AC}"/>
                </a:ext>
              </a:extLst>
            </p:cNvPr>
            <p:cNvSpPr/>
            <p:nvPr/>
          </p:nvSpPr>
          <p:spPr>
            <a:xfrm>
              <a:off x="4792980" y="4274820"/>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stock check</a:t>
              </a:r>
              <a:endParaRPr lang="en-US" dirty="0"/>
            </a:p>
          </p:txBody>
        </p:sp>
        <p:sp>
          <p:nvSpPr>
            <p:cNvPr id="43" name="Text 25">
              <a:extLst>
                <a:ext uri="{FF2B5EF4-FFF2-40B4-BE49-F238E27FC236}">
                  <a16:creationId xmlns:a16="http://schemas.microsoft.com/office/drawing/2014/main" id="{BA9DCF19-059B-D836-96CB-BE96BCA9583D}"/>
                </a:ext>
              </a:extLst>
            </p:cNvPr>
            <p:cNvSpPr/>
            <p:nvPr/>
          </p:nvSpPr>
          <p:spPr>
            <a:xfrm>
              <a:off x="4792980" y="4933188"/>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storage preparation</a:t>
              </a:r>
              <a:endParaRPr lang="en-US" dirty="0"/>
            </a:p>
          </p:txBody>
        </p:sp>
      </p:grpSp>
      <p:grpSp>
        <p:nvGrpSpPr>
          <p:cNvPr id="57" name="Group 56">
            <a:extLst>
              <a:ext uri="{FF2B5EF4-FFF2-40B4-BE49-F238E27FC236}">
                <a16:creationId xmlns:a16="http://schemas.microsoft.com/office/drawing/2014/main" id="{767E53A1-34D4-0218-9AC7-5BDE6F162C52}"/>
              </a:ext>
            </a:extLst>
          </p:cNvPr>
          <p:cNvGrpSpPr/>
          <p:nvPr/>
        </p:nvGrpSpPr>
        <p:grpSpPr>
          <a:xfrm>
            <a:off x="8194548" y="1828800"/>
            <a:ext cx="3337560" cy="4023360"/>
            <a:chOff x="8194548" y="1828800"/>
            <a:chExt cx="3337560" cy="4023360"/>
          </a:xfrm>
        </p:grpSpPr>
        <p:sp>
          <p:nvSpPr>
            <p:cNvPr id="44" name="Shape 26">
              <a:extLst>
                <a:ext uri="{FF2B5EF4-FFF2-40B4-BE49-F238E27FC236}">
                  <a16:creationId xmlns:a16="http://schemas.microsoft.com/office/drawing/2014/main" id="{21404F94-28BF-3878-31F9-775BE24BDEBD}"/>
                </a:ext>
              </a:extLst>
            </p:cNvPr>
            <p:cNvSpPr/>
            <p:nvPr/>
          </p:nvSpPr>
          <p:spPr>
            <a:xfrm>
              <a:off x="8194548" y="1828800"/>
              <a:ext cx="3337560" cy="4023360"/>
            </a:xfrm>
            <a:prstGeom prst="roundRect">
              <a:avLst>
                <a:gd name="adj" fmla="val 2192"/>
              </a:avLst>
            </a:prstGeom>
            <a:solidFill>
              <a:srgbClr val="FFFFFF"/>
            </a:solidFill>
            <a:ln w="12700">
              <a:solidFill>
                <a:srgbClr val="D8DEE8"/>
              </a:solidFill>
              <a:prstDash val="solid"/>
            </a:ln>
          </p:spPr>
          <p:txBody>
            <a:bodyPr/>
            <a:lstStyle/>
            <a:p>
              <a:endParaRPr lang="en-DE"/>
            </a:p>
          </p:txBody>
        </p:sp>
        <p:sp>
          <p:nvSpPr>
            <p:cNvPr id="45" name="Shape 27">
              <a:extLst>
                <a:ext uri="{FF2B5EF4-FFF2-40B4-BE49-F238E27FC236}">
                  <a16:creationId xmlns:a16="http://schemas.microsoft.com/office/drawing/2014/main" id="{2E840467-3C11-8414-75F3-AA78BB6C026B}"/>
                </a:ext>
              </a:extLst>
            </p:cNvPr>
            <p:cNvSpPr/>
            <p:nvPr/>
          </p:nvSpPr>
          <p:spPr>
            <a:xfrm>
              <a:off x="8194548" y="1828800"/>
              <a:ext cx="64008" cy="4023360"/>
            </a:xfrm>
            <a:prstGeom prst="rect">
              <a:avLst/>
            </a:prstGeom>
            <a:solidFill>
              <a:srgbClr val="3465A4"/>
            </a:solidFill>
            <a:ln w="12700">
              <a:solidFill>
                <a:srgbClr val="3465A4"/>
              </a:solidFill>
              <a:prstDash val="solid"/>
            </a:ln>
          </p:spPr>
          <p:txBody>
            <a:bodyPr/>
            <a:lstStyle/>
            <a:p>
              <a:endParaRPr lang="en-DE"/>
            </a:p>
          </p:txBody>
        </p:sp>
        <p:sp>
          <p:nvSpPr>
            <p:cNvPr id="46" name="Text 28">
              <a:extLst>
                <a:ext uri="{FF2B5EF4-FFF2-40B4-BE49-F238E27FC236}">
                  <a16:creationId xmlns:a16="http://schemas.microsoft.com/office/drawing/2014/main" id="{B1DD07D2-C03F-4516-9C7B-3D0722401D9A}"/>
                </a:ext>
              </a:extLst>
            </p:cNvPr>
            <p:cNvSpPr/>
            <p:nvPr/>
          </p:nvSpPr>
          <p:spPr>
            <a:xfrm>
              <a:off x="8258556" y="2167128"/>
              <a:ext cx="3273552" cy="146304"/>
            </a:xfrm>
            <a:prstGeom prst="rect">
              <a:avLst/>
            </a:prstGeom>
            <a:noFill/>
            <a:ln/>
          </p:spPr>
          <p:txBody>
            <a:bodyPr wrap="square" lIns="0" tIns="0" rIns="0" bIns="0" rtlCol="0" anchor="ctr">
              <a:noAutofit/>
            </a:bodyPr>
            <a:lstStyle/>
            <a:p>
              <a:pPr marL="0" indent="0" algn="ctr">
                <a:buNone/>
              </a:pPr>
              <a:r>
                <a:rPr lang="en-US" sz="2400" b="1">
                  <a:solidFill>
                    <a:srgbClr val="262626"/>
                  </a:solidFill>
                  <a:latin typeface="Aptos Display" pitchFamily="34" charset="0"/>
                  <a:ea typeface="Aptos Display" pitchFamily="34" charset="-122"/>
                  <a:cs typeface="Aptos Display" pitchFamily="34" charset="-120"/>
                </a:rPr>
                <a:t>before shipment</a:t>
              </a:r>
              <a:endParaRPr lang="en-US" sz="2400" dirty="0"/>
            </a:p>
          </p:txBody>
        </p:sp>
        <p:sp>
          <p:nvSpPr>
            <p:cNvPr id="48" name="Text 30">
              <a:extLst>
                <a:ext uri="{FF2B5EF4-FFF2-40B4-BE49-F238E27FC236}">
                  <a16:creationId xmlns:a16="http://schemas.microsoft.com/office/drawing/2014/main" id="{09CF276E-8B17-A86A-B266-79AB0A009355}"/>
                </a:ext>
              </a:extLst>
            </p:cNvPr>
            <p:cNvSpPr/>
            <p:nvPr/>
          </p:nvSpPr>
          <p:spPr>
            <a:xfrm>
              <a:off x="8560308" y="2958084"/>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r>
                <a:rPr lang="en-US" dirty="0">
                  <a:solidFill>
                    <a:srgbClr val="262626"/>
                  </a:solidFill>
                  <a:latin typeface="Aptos" pitchFamily="34" charset="0"/>
                  <a:ea typeface="Aptos" pitchFamily="34" charset="-122"/>
                  <a:cs typeface="Aptos" pitchFamily="34" charset="-120"/>
                </a:rPr>
                <a:t>final assembly</a:t>
              </a:r>
              <a:endParaRPr lang="en-US" dirty="0"/>
            </a:p>
          </p:txBody>
        </p:sp>
        <p:sp>
          <p:nvSpPr>
            <p:cNvPr id="50" name="Text 32">
              <a:extLst>
                <a:ext uri="{FF2B5EF4-FFF2-40B4-BE49-F238E27FC236}">
                  <a16:creationId xmlns:a16="http://schemas.microsoft.com/office/drawing/2014/main" id="{D5F03A71-D51E-8CD9-5465-A3B45BF4218C}"/>
                </a:ext>
              </a:extLst>
            </p:cNvPr>
            <p:cNvSpPr/>
            <p:nvPr/>
          </p:nvSpPr>
          <p:spPr>
            <a:xfrm>
              <a:off x="8560308" y="3616452"/>
              <a:ext cx="2606040" cy="274320"/>
            </a:xfrm>
            <a:prstGeom prst="rect">
              <a:avLst/>
            </a:prstGeom>
            <a:noFill/>
            <a:ln/>
          </p:spPr>
          <p:txBody>
            <a:bodyPr wrap="square" lIns="0" tIns="0" rIns="0" bIns="0" rtlCol="0" anchor="ctr">
              <a:normAutofit/>
            </a:bodyPr>
            <a:lstStyle/>
            <a:p>
              <a:pPr marL="285750" indent="-285750">
                <a:buFont typeface="Wingdings" pitchFamily="2" charset="2"/>
                <a:buChar char="Ø"/>
              </a:pPr>
              <a:endParaRPr lang="en-US" dirty="0"/>
            </a:p>
          </p:txBody>
        </p:sp>
        <p:sp>
          <p:nvSpPr>
            <p:cNvPr id="54" name="Text 36">
              <a:extLst>
                <a:ext uri="{FF2B5EF4-FFF2-40B4-BE49-F238E27FC236}">
                  <a16:creationId xmlns:a16="http://schemas.microsoft.com/office/drawing/2014/main" id="{1E5709CA-E80B-899F-8355-F0E1668E0964}"/>
                </a:ext>
              </a:extLst>
            </p:cNvPr>
            <p:cNvSpPr/>
            <p:nvPr/>
          </p:nvSpPr>
          <p:spPr>
            <a:xfrm>
              <a:off x="8560308" y="3612897"/>
              <a:ext cx="2915412" cy="274320"/>
            </a:xfrm>
            <a:prstGeom prst="rect">
              <a:avLst/>
            </a:prstGeom>
            <a:noFill/>
            <a:ln/>
          </p:spPr>
          <p:txBody>
            <a:bodyPr wrap="square" lIns="0" tIns="0" rIns="0" bIns="0" rtlCol="0" anchor="ctr">
              <a:noAutofit/>
            </a:bodyPr>
            <a:lstStyle/>
            <a:p>
              <a:pPr marL="285750" indent="-285750">
                <a:buFont typeface="Wingdings" pitchFamily="2" charset="2"/>
                <a:buChar char="Ø"/>
              </a:pPr>
              <a:r>
                <a:rPr lang="en-US">
                  <a:solidFill>
                    <a:srgbClr val="262626"/>
                  </a:solidFill>
                  <a:latin typeface="Aptos" pitchFamily="34" charset="0"/>
                  <a:ea typeface="Aptos" pitchFamily="34" charset="-122"/>
                  <a:cs typeface="Aptos" pitchFamily="34" charset="-120"/>
                </a:rPr>
                <a:t>handover</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4278</TotalTime>
  <Words>1435</Words>
  <Application>Microsoft Macintosh PowerPoint</Application>
  <PresentationFormat>Widescreen</PresentationFormat>
  <Paragraphs>157</Paragraphs>
  <Slides>11</Slides>
  <Notes>11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Aptos</vt:lpstr>
      <vt:lpstr>Aptos Display</vt:lpstr>
      <vt:lpstr>Arial</vt:lpstr>
      <vt:lpstr>Calibri</vt:lpstr>
      <vt:lpstr>DejaVu Sans</vt:lpstr>
      <vt:lpstr>DejaVu Serif</vt:lpstr>
      <vt:lpstr>OpenSymbol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Würzburg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AMADEE-27 Tumbler Design – Final Meeting Working Draft</dc:title>
  <dc:subject>AMADEE-27 Tumbler Design Final Meeting Working Draft</dc:subject>
  <dc:creator>OpenAI</dc:creator>
  <cp:lastModifiedBy>TatheerFatima Hussain</cp:lastModifiedBy>
  <cp:revision>8</cp:revision>
  <dcterms:created xsi:type="dcterms:W3CDTF">2026-09-23T10:48:03Z</dcterms:created>
  <dcterms:modified xsi:type="dcterms:W3CDTF">2026-09-28T08:57:33Z</dcterms:modified>
</cp:coreProperties>
</file>